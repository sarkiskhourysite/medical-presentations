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87" r:id="rId10"/>
    <p:sldId id="264" r:id="rId11"/>
    <p:sldId id="265" r:id="rId12"/>
    <p:sldId id="266" r:id="rId13"/>
    <p:sldId id="267" r:id="rId14"/>
    <p:sldId id="288" r:id="rId15"/>
    <p:sldId id="268" r:id="rId16"/>
    <p:sldId id="269" r:id="rId17"/>
    <p:sldId id="270" r:id="rId18"/>
    <p:sldId id="271" r:id="rId19"/>
    <p:sldId id="272" r:id="rId20"/>
    <p:sldId id="289" r:id="rId21"/>
    <p:sldId id="273" r:id="rId22"/>
    <p:sldId id="274" r:id="rId23"/>
    <p:sldId id="275" r:id="rId24"/>
    <p:sldId id="276" r:id="rId25"/>
    <p:sldId id="277" r:id="rId26"/>
    <p:sldId id="290" r:id="rId27"/>
    <p:sldId id="278" r:id="rId28"/>
    <p:sldId id="279" r:id="rId29"/>
    <p:sldId id="280" r:id="rId30"/>
    <p:sldId id="291" r:id="rId31"/>
    <p:sldId id="281" r:id="rId32"/>
    <p:sldId id="282" r:id="rId33"/>
    <p:sldId id="283"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01" autoAdjust="0"/>
  </p:normalViewPr>
  <p:slideViewPr>
    <p:cSldViewPr snapToGrid="0">
      <p:cViewPr varScale="1">
        <p:scale>
          <a:sx n="79" d="100"/>
          <a:sy n="79" d="100"/>
        </p:scale>
        <p:origin x="96"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 session for clinicians. All clinical cases are fictional teaching examples. Guidance checked September 2026. Adapt medication choices, test access, cancer pathways and referral timing to the local healthcare system. This session covers common luminal GI presentations and acute warning signs, not comprehensive hepatology or pediatric care.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five sections. Each of the three main cases stays together. The appendix offers additional guidance if time permits.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learners to identify the dominant next action. These are complementary clinical decisions, not mutually exclusive categories. “Explore” is expressed here as investigate. The framework is a teaching synthesis of the cited guidance.</a:t>
            </a:r>
          </a:p>
          <a:p>
            <a:endParaRPr/>
          </a:p>
          <a:p>
            <a:r>
              <a:t>Sources:</a:t>
            </a:r>
          </a:p>
          <a:p>
            <a:r>
              <a:t>ACG GERD guideline (2022)</a:t>
            </a:r>
          </a:p>
          <a:p>
            <a:r>
              <a:t>https://pubmed.ncbi.nlm.nih.gov/34807007/</a:t>
            </a:r>
          </a:p>
          <a:p>
            <a:endParaRPr/>
          </a:p>
          <a:p>
            <a:r>
              <a:t>AGA chronic watery diarrhea guideline (2019)</a:t>
            </a:r>
          </a:p>
          <a:p>
            <a:r>
              <a:t>https://gastro.org/clinical-guidance/laboratory-evaluation-of-functional-diarrhea-and-diarrhea-predominant-irritable-bowel-syndrome-in-adults-ibs-d/</a:t>
            </a:r>
          </a:p>
          <a:p>
            <a:endParaRPr/>
          </a:p>
          <a:p>
            <a:r>
              <a:t>AGA iron-deficiency anemia guideline (2020)</a:t>
            </a:r>
          </a:p>
          <a:p>
            <a:r>
              <a:t>https://gastro.org/clinical-guidance/gastrointestinal-evaluation-of-iron-deficiency-anemia/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Does this patient need immediate or expedited care? Assessment, emergency example and alarm features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Clarify the symptom before labeling a disorder. Separate heartburn from epigastric pain, diarrhea from overflow, and dysphagia from </a:t>
            </a:r>
            <a:r>
              <a:rPr dirty="0" err="1"/>
              <a:t>globus</a:t>
            </a:r>
            <a:r>
              <a:rPr dirty="0"/>
              <a:t>. Check for non-GI causes, including cardiac disease when chest discomfort is present. A rectal examination depends on symptoms and consent.</a:t>
            </a:r>
          </a:p>
          <a:p>
            <a:endParaRPr dirty="0"/>
          </a:p>
          <a:p>
            <a:r>
              <a:rPr dirty="0"/>
              <a:t>Sources:</a:t>
            </a:r>
          </a:p>
          <a:p>
            <a:r>
              <a:rPr dirty="0"/>
              <a:t>ACG GERD guideline (2022)</a:t>
            </a:r>
          </a:p>
          <a:p>
            <a:r>
              <a:rPr dirty="0"/>
              <a:t>https://pubmed.ncbi.nlm.nih.gov/34807007/</a:t>
            </a:r>
          </a:p>
          <a:p>
            <a:endParaRPr dirty="0"/>
          </a:p>
          <a:p>
            <a:r>
              <a:rPr dirty="0"/>
              <a:t>NICE CG61: IBS in adults</a:t>
            </a:r>
          </a:p>
          <a:p>
            <a:r>
              <a:rPr dirty="0"/>
              <a:t>https://www.nice.org.uk/guidance/cg61/chapter/Recommendations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combines standard emergency triage with acute GI bleeding guidance. ABC assessment and emergency transport take priority. Suspected obstruction or peritonitis may need surgical care. Fever, jaundice and abdominal pain suggest cholangitis and require urgent hospital treatment. Acute chest pain requires assessment for cardiac causes.</a:t>
            </a:r>
          </a:p>
          <a:p>
            <a:endParaRPr dirty="0"/>
          </a:p>
          <a:p>
            <a:r>
              <a:rPr dirty="0"/>
              <a:t>Sources:</a:t>
            </a:r>
          </a:p>
          <a:p>
            <a:r>
              <a:rPr dirty="0"/>
              <a:t>NICE CG141: acute upper GI bleeding</a:t>
            </a:r>
          </a:p>
          <a:p>
            <a:r>
              <a:rPr dirty="0"/>
              <a:t>https://www.nice.org.uk/guidance/cg141/chapter/Recommendations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Fictional emergency case. Assess airway, breathing and circulation. Call emergency transport and initiate supportive care within training and resources. Review anticoagulant and antiplatelet use and communicate it to the receiving team. A normal early hemoglobin cannot reliably exclude significant acute blood loss.</a:t>
            </a:r>
          </a:p>
          <a:p>
            <a:endParaRPr dirty="0"/>
          </a:p>
          <a:p>
            <a:r>
              <a:rPr dirty="0"/>
              <a:t>Sources:</a:t>
            </a:r>
          </a:p>
          <a:p>
            <a:r>
              <a:rPr dirty="0"/>
              <a:t>NICE CG141: acute upper GI bleeding</a:t>
            </a:r>
          </a:p>
          <a:p>
            <a:r>
              <a:rPr dirty="0"/>
              <a:t>https://www.nice.org.uk/guidance/cg141/chapter/Recommendations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local suspected-cancer pathways. Dysphagia merits urgent assessment. Age thresholds differ across countries and presenting syndromes. An isolated alarm feature in a younger person with dyspepsia does not automatically mandate endoscopy under ACG/CAG guidance, but severe, multiple or progressive findings lower the threshold. Avoid reassuring a patient solely on the basis of young age.</a:t>
            </a:r>
          </a:p>
          <a:p>
            <a:endParaRPr dirty="0"/>
          </a:p>
          <a:p>
            <a:r>
              <a:rPr dirty="0"/>
              <a:t>Sources:</a:t>
            </a:r>
          </a:p>
          <a:p>
            <a:r>
              <a:rPr dirty="0"/>
              <a:t>NICE NG12: suspected cancer referral</a:t>
            </a:r>
          </a:p>
          <a:p>
            <a:r>
              <a:rPr dirty="0"/>
              <a:t>https://www.nice.org.uk/guidance/ng12/chapter/recommendations-organised-by-site-of-cancer</a:t>
            </a:r>
          </a:p>
          <a:p>
            <a:endParaRPr dirty="0"/>
          </a:p>
          <a:p>
            <a:r>
              <a:rPr dirty="0"/>
              <a:t>ACG/CAG dyspepsia guideline (2017)</a:t>
            </a:r>
          </a:p>
          <a:p>
            <a:r>
              <a:rPr dirty="0"/>
              <a:t>https://pubmed.ncbi.nlm.nih.gov/28631728/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Can this patient start treatment in primary care? Case 1: reflux presentation, treatment and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Fictional case. Pause for discussion. Expected answer: a primary care treatment trial for typical uncomplicated reflux. Confirm that chest symptoms do not suggest a cardiac cause. Routine initial endoscopy is unnecessary in this low-risk presentation.</a:t>
            </a:r>
          </a:p>
          <a:p>
            <a:endParaRPr dirty="0"/>
          </a:p>
          <a:p>
            <a:r>
              <a:rPr dirty="0"/>
              <a:t>Sources:</a:t>
            </a:r>
          </a:p>
          <a:p>
            <a:r>
              <a:rPr dirty="0"/>
              <a:t>ACG GERD guideline (2022)</a:t>
            </a:r>
          </a:p>
          <a:p>
            <a:r>
              <a:rPr dirty="0"/>
              <a:t>https://pubmed.ncbi.nlm.nih.gov/34807007/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PPI means proton pump inhibitor. A standard-dose option is omeprazole 20 mg once daily, adjusted for individual contraindications and interactions. Check symptoms during the trial and formally reassess at 8 weeks. Failure despite correct use, or recurrence on withdrawal, warrants further evaluation, often endoscopy. Long-term maintenance may be appropriate for established complications and should not be stopped indiscriminately.</a:t>
            </a:r>
          </a:p>
          <a:p>
            <a:endParaRPr dirty="0"/>
          </a:p>
          <a:p>
            <a:r>
              <a:rPr dirty="0"/>
              <a:t>Sources:</a:t>
            </a:r>
          </a:p>
          <a:p>
            <a:r>
              <a:rPr dirty="0"/>
              <a:t>ACG GERD guideline (2022)</a:t>
            </a:r>
          </a:p>
          <a:p>
            <a:r>
              <a:rPr dirty="0"/>
              <a:t>https://pubmed.ncbi.nlm.nih.gov/34807007/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IBS is irritable bowel syndrome. A positive diagnosis requires a compatible history and appropriate limited assessment, not simply a normal abdominal examination. Consider dietitian support for restrictive diets. Constipation with obstruction symptoms is not suitable for empiric laxative management. Persistent difficult evacuation or failure of adequate treatment can warrant GI evaluation and anorectal testing.</a:t>
            </a:r>
          </a:p>
          <a:p>
            <a:endParaRPr dirty="0"/>
          </a:p>
          <a:p>
            <a:r>
              <a:rPr dirty="0"/>
              <a:t>Sources:</a:t>
            </a:r>
          </a:p>
          <a:p>
            <a:r>
              <a:rPr dirty="0"/>
              <a:t>AGA/ACG constipation guideline (2023)</a:t>
            </a:r>
          </a:p>
          <a:p>
            <a:r>
              <a:rPr dirty="0"/>
              <a:t>https://gastro.org/clinical-guidance/pharmacological-management-of-chronic-idiopathic-constipation-cic/</a:t>
            </a:r>
          </a:p>
          <a:p>
            <a:endParaRPr dirty="0"/>
          </a:p>
          <a:p>
            <a:r>
              <a:rPr dirty="0"/>
              <a:t>AGA refractory constipation update (2026)</a:t>
            </a:r>
          </a:p>
          <a:p>
            <a:r>
              <a:rPr dirty="0"/>
              <a:t>https://gastro.org/clinical-guidance/evaluation-and-management-of-refractory-constipation/</a:t>
            </a:r>
          </a:p>
          <a:p>
            <a:endParaRPr dirty="0"/>
          </a:p>
          <a:p>
            <a:r>
              <a:rPr dirty="0"/>
              <a:t>NICE CG61: IBS in adults</a:t>
            </a:r>
          </a:p>
          <a:p>
            <a:r>
              <a:rPr dirty="0"/>
              <a:t>https://www.nice.org.uk/guidance/cg61/chapter/Recommendations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Which tests will clarify the cause and change management? Case 2: diarrhea presentation, tests and next steps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examples are deliberately selective. CBC, chemistry, inflammatory tests, imaging and endoscopy depend on the clinical question. Avoid indiscriminate panels and repeated normal tests without revisiting the diagnosis.</a:t>
            </a:r>
          </a:p>
          <a:p>
            <a:endParaRPr dirty="0"/>
          </a:p>
          <a:p>
            <a:r>
              <a:rPr dirty="0"/>
              <a:t>Sources:</a:t>
            </a:r>
          </a:p>
          <a:p>
            <a:r>
              <a:rPr dirty="0"/>
              <a:t>ACG/CAG dyspepsia guideline (2017)</a:t>
            </a:r>
          </a:p>
          <a:p>
            <a:r>
              <a:rPr dirty="0"/>
              <a:t>https://pubmed.ncbi.nlm.nih.gov/28631728/</a:t>
            </a:r>
          </a:p>
          <a:p>
            <a:endParaRPr dirty="0"/>
          </a:p>
          <a:p>
            <a:r>
              <a:rPr dirty="0"/>
              <a:t>AGA chronic watery diarrhea guideline (2019)</a:t>
            </a:r>
          </a:p>
          <a:p>
            <a:r>
              <a:rPr dirty="0"/>
              <a:t>https://gastro.org/clinical-guidance/laboratory-evaluation-of-functional-diarrhea-and-diarrhea-predominant-irritable-bowel-syndrome-in-adults-ibs-d/</a:t>
            </a:r>
          </a:p>
          <a:p>
            <a:endParaRPr dirty="0"/>
          </a:p>
          <a:p>
            <a:r>
              <a:rPr dirty="0"/>
              <a:t>AGA iron-deficiency anemia guideline (2020)</a:t>
            </a:r>
          </a:p>
          <a:p>
            <a:r>
              <a:rPr dirty="0"/>
              <a:t>https://gastro.org/clinical-guidance/gastrointestinal-evaluation-of-iron-deficiency-anemia/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Fictional case. Ask the audience for a limited first-line work-up. Review medications, diet and exposure history before ordering tests. Chronic watery diarrhea lasts at least 4 weeks. Do not diagnose IBS solely because the patient is young. IBS also requires a characteristic recurrent abdominal pain pattern.</a:t>
            </a:r>
          </a:p>
          <a:p>
            <a:endParaRPr dirty="0"/>
          </a:p>
          <a:p>
            <a:r>
              <a:rPr dirty="0"/>
              <a:t>Sources:</a:t>
            </a:r>
          </a:p>
          <a:p>
            <a:r>
              <a:rPr dirty="0"/>
              <a:t>AGA chronic watery diarrhea guideline (2019)</a:t>
            </a:r>
          </a:p>
          <a:p>
            <a:r>
              <a:rPr dirty="0"/>
              <a:t>https://gastro.org/clinical-guidance/laboratory-evaluation-of-functional-diarrhea-and-diarrhea-predominant-irritable-bowel-syndrome-in-adults-ibs-d/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AGA functional diarrhea guideline applies to immunocompetent adults with watery diarrhea without alarm features. It supports Giardia and celiac testing and fecal inflammatory markers. Do not use normal CRP or ESR alone to exclude IBD. Do not routinely order ova and parasite panels other than Giardia in patients without relevant travel or exposure. Consider bile acid diarrhea testing if symptoms persist. Basic blood tests assess anemia, electrolyte disturbance or other clues according to presentation.</a:t>
            </a:r>
          </a:p>
          <a:p>
            <a:endParaRPr dirty="0"/>
          </a:p>
          <a:p>
            <a:r>
              <a:rPr dirty="0"/>
              <a:t>Sources:</a:t>
            </a:r>
          </a:p>
          <a:p>
            <a:r>
              <a:rPr dirty="0"/>
              <a:t>AGA chronic watery diarrhea guideline (2019)</a:t>
            </a:r>
          </a:p>
          <a:p>
            <a:r>
              <a:rPr dirty="0"/>
              <a:t>https://gastro.org/clinical-guidance/laboratory-evaluation-of-functional-diarrhea-and-diarrhea-predominant-irritable-bowel-syndrome-in-adults-ibs-d/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Fictional case branches, not observed outcomes. Use the assay and local pathway to interpret calprotectin. Infection and NSAIDs may raise it. Persistent watery diarrhea can reflect microscopic colitis despite a normal-looking colon and requires biopsies when investigated. Ongoing symptoms can also reflect bile acid diarrhea. Refer earlier if weight loss, blood, anemia or deterioration appears.</a:t>
            </a:r>
          </a:p>
          <a:p>
            <a:endParaRPr dirty="0"/>
          </a:p>
          <a:p>
            <a:r>
              <a:rPr dirty="0"/>
              <a:t>Sources:</a:t>
            </a:r>
          </a:p>
          <a:p>
            <a:r>
              <a:rPr dirty="0"/>
              <a:t>AGA chronic watery diarrhea guideline (2019)</a:t>
            </a:r>
          </a:p>
          <a:p>
            <a:r>
              <a:rPr dirty="0"/>
              <a:t>https://gastro.org/clinical-guidance/laboratory-evaluation-of-functional-diarrhea-and-diarrhea-predominant-irritable-bowel-syndrome-in-adults-ibs-d/</a:t>
            </a:r>
          </a:p>
          <a:p>
            <a:endParaRPr dirty="0"/>
          </a:p>
          <a:p>
            <a:r>
              <a:rPr dirty="0"/>
              <a:t>NICE CG61: IBS in adults</a:t>
            </a:r>
          </a:p>
          <a:p>
            <a:r>
              <a:rPr dirty="0"/>
              <a:t>https://www.nice.org.uk/guidance/cg61/chapter/Recommendations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Does this patient need a specialist, and how urgently? Case 3: anemia presentation, referral and parallel care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categories are a teaching synthesis. Anemia urgency depends on severity, symptoms, hemodynamic status and concern for malignancy. Severe colitis or systemic toxicity requires same-day hospital assessment. Mild, stable suspected IBD still needs timely specialist evaluation. A routine referral should not interrupt active safety-netting.</a:t>
            </a:r>
          </a:p>
          <a:p>
            <a:endParaRPr dirty="0"/>
          </a:p>
          <a:p>
            <a:r>
              <a:rPr dirty="0"/>
              <a:t>Sources:</a:t>
            </a:r>
          </a:p>
          <a:p>
            <a:r>
              <a:rPr dirty="0"/>
              <a:t>NICE NG12: suspected cancer referral</a:t>
            </a:r>
          </a:p>
          <a:p>
            <a:r>
              <a:rPr dirty="0"/>
              <a:t>https://www.nice.org.uk/guidance/ng12/chapter/recommendations-organised-by-site-of-cancer</a:t>
            </a:r>
          </a:p>
          <a:p>
            <a:endParaRPr dirty="0"/>
          </a:p>
          <a:p>
            <a:r>
              <a:rPr dirty="0"/>
              <a:t>AGA iron-deficiency anemia guideline (2020)</a:t>
            </a:r>
          </a:p>
          <a:p>
            <a:r>
              <a:rPr dirty="0"/>
              <a:t>https://gastro.org/clinical-guidance/gastrointestinal-evaluation-of-iron-deficiency-anemia/</a:t>
            </a:r>
          </a:p>
          <a:p>
            <a:endParaRPr dirty="0"/>
          </a:p>
          <a:p>
            <a:r>
              <a:rPr dirty="0"/>
              <a:t>NICE CG141: acute upper GI bleeding</a:t>
            </a:r>
          </a:p>
          <a:p>
            <a:r>
              <a:rPr dirty="0"/>
              <a:t>https://www.nice.org.uk/guidance/cg141/chapter/Recommendations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Fictional case. The anemia is clearly iron deficient in this example. Ask learners to identify the appropriate referral and investigations. Occult gastrointestinal blood loss must be considered. Iron therapy and etiologic investigation can proceed together.</a:t>
            </a:r>
          </a:p>
          <a:p>
            <a:endParaRPr dirty="0"/>
          </a:p>
          <a:p>
            <a:r>
              <a:rPr dirty="0"/>
              <a:t>Sources:</a:t>
            </a:r>
          </a:p>
          <a:p>
            <a:r>
              <a:rPr dirty="0"/>
              <a:t>AGA iron-deficiency anemia guideline (2020)</a:t>
            </a:r>
          </a:p>
          <a:p>
            <a:r>
              <a:rPr dirty="0"/>
              <a:t>https://gastro.org/clinical-guidance/gastrointestinal-evaluation-of-iron-deficiency-anemia/</a:t>
            </a:r>
          </a:p>
          <a:p>
            <a:endParaRPr dirty="0"/>
          </a:p>
          <a:p>
            <a:r>
              <a:rPr dirty="0"/>
              <a:t>NICE NG12: suspected cancer referral</a:t>
            </a:r>
          </a:p>
          <a:p>
            <a:r>
              <a:rPr dirty="0"/>
              <a:t>https://www.nice.org.uk/guidance/ng12/chapter/recommendations-organised-by-site-of-cancer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Bidirectional endoscopy means upper endoscopy and colonoscopy. AGA recommends it for men and postmenopausal women with unexplained iron-deficiency anemia. Menstrual blood loss changes the assessment in premenopausal women, but persistent, disproportionate anemia or GI alarms still warrants evaluation. Under NICE, FIT guides colorectal referral, with 10 micrograms </a:t>
            </a:r>
            <a:r>
              <a:rPr dirty="0" err="1"/>
              <a:t>Hb</a:t>
            </a:r>
            <a:r>
              <a:rPr dirty="0"/>
              <a:t>/g feces as the referral threshold. Low FIT does not justify delaying referral when concern persists and does not evaluate upper GI causes. Follow local practice.</a:t>
            </a:r>
          </a:p>
          <a:p>
            <a:endParaRPr dirty="0"/>
          </a:p>
          <a:p>
            <a:r>
              <a:rPr dirty="0"/>
              <a:t>Sources:</a:t>
            </a:r>
          </a:p>
          <a:p>
            <a:r>
              <a:rPr dirty="0"/>
              <a:t>AGA iron-deficiency anemia guideline (2020)</a:t>
            </a:r>
          </a:p>
          <a:p>
            <a:r>
              <a:rPr dirty="0"/>
              <a:t>https://gastro.org/clinical-guidance/gastrointestinal-evaluation-of-iron-deficiency-anemia/</a:t>
            </a:r>
          </a:p>
          <a:p>
            <a:endParaRPr dirty="0"/>
          </a:p>
          <a:p>
            <a:r>
              <a:rPr dirty="0"/>
              <a:t>NICE NG12: suspected cancer referral</a:t>
            </a:r>
          </a:p>
          <a:p>
            <a:r>
              <a:rPr dirty="0"/>
              <a:t>https://www.nice.org.uk/guidance/ng12/chapter/recommendations-organised-by-site-of-cancer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referral structure, not a mandated guideline format. Example: “Urgent assessment for unexplained iron-deficiency anemia with new bowel change. Stable 62-year-old man. </a:t>
            </a:r>
            <a:r>
              <a:rPr dirty="0" err="1"/>
              <a:t>Hb</a:t>
            </a:r>
            <a:r>
              <a:rPr dirty="0"/>
              <a:t> 9.8 g/</a:t>
            </a:r>
            <a:r>
              <a:rPr dirty="0" err="1"/>
              <a:t>dL</a:t>
            </a:r>
            <a:r>
              <a:rPr dirty="0"/>
              <a:t>, ferritin 8 ng/</a:t>
            </a:r>
            <a:r>
              <a:rPr dirty="0" err="1"/>
              <a:t>mL.</a:t>
            </a:r>
            <a:r>
              <a:rPr dirty="0"/>
              <a:t> Please assess for upper and lower GI sources.” Include reliable patient contact details in the actual referral. Never include invented identifiers from a teaching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will check the results and reassess the patient? Follow-up responsibilities and the three main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patients to repeat the plan in their own words. Give written advice where useful. New dysphagia, visible bleeding, melena, progressive weight loss, inability to maintain intake or deterioration require reassessment. A patient with an initially benign diagnosis can develop new disease.</a:t>
            </a:r>
          </a:p>
          <a:p>
            <a:endParaRPr dirty="0"/>
          </a:p>
          <a:p>
            <a:r>
              <a:rPr dirty="0"/>
              <a:t>Sources:</a:t>
            </a:r>
          </a:p>
          <a:p>
            <a:r>
              <a:rPr dirty="0"/>
              <a:t>NICE CG61: IBS in adults</a:t>
            </a:r>
          </a:p>
          <a:p>
            <a:r>
              <a:rPr dirty="0"/>
              <a:t>https://www.nice.org.uk/guidance/cg61/chapter/Recommendations</a:t>
            </a:r>
          </a:p>
          <a:p>
            <a:endParaRPr dirty="0"/>
          </a:p>
          <a:p>
            <a:r>
              <a:rPr dirty="0"/>
              <a:t>NICE NG12: suspected cancer referral</a:t>
            </a:r>
          </a:p>
          <a:p>
            <a:r>
              <a:rPr dirty="0"/>
              <a:t>https://www.nice.org.uk/guidance/ng12/chapter/recommendations-organised-by-site-of-cancer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Close by asking learners which single finding would change each initial decision. Suggested answers: new dysphagia in Case 1, bloody diarrhea with systemic illness in Case 2, or hemodynamic instability in Case 3. These cases illustrate the dominant action. Treatment and testing often continue while referral proceeds.</a:t>
            </a:r>
          </a:p>
          <a:p>
            <a:endParaRPr dirty="0"/>
          </a:p>
          <a:p>
            <a:r>
              <a:rPr dirty="0"/>
              <a:t>Sources:</a:t>
            </a:r>
          </a:p>
          <a:p>
            <a:r>
              <a:rPr dirty="0"/>
              <a:t>ACG GERD guideline (2022)</a:t>
            </a:r>
          </a:p>
          <a:p>
            <a:r>
              <a:rPr dirty="0"/>
              <a:t>https://pubmed.ncbi.nlm.nih.gov/34807007/</a:t>
            </a:r>
          </a:p>
          <a:p>
            <a:endParaRPr dirty="0"/>
          </a:p>
          <a:p>
            <a:r>
              <a:rPr dirty="0"/>
              <a:t>AGA chronic watery diarrhea guideline (2019)</a:t>
            </a:r>
          </a:p>
          <a:p>
            <a:r>
              <a:rPr dirty="0"/>
              <a:t>https://gastro.org/clinical-guidance/laboratory-evaluation-of-functional-diarrhea-and-diarrhea-predominant-irritable-bowel-syndrome-in-adults-ibs-d/</a:t>
            </a:r>
          </a:p>
          <a:p>
            <a:endParaRPr dirty="0"/>
          </a:p>
          <a:p>
            <a:r>
              <a:rPr dirty="0"/>
              <a:t>AGA iron-deficiency anemia guideline (2020)</a:t>
            </a:r>
          </a:p>
          <a:p>
            <a:r>
              <a:rPr dirty="0"/>
              <a:t>https://gastro.org/clinical-guidance/gastrointestinal-evaluation-of-iron-deficiency-anemia/</a:t>
            </a:r>
          </a:p>
          <a:p>
            <a:endParaRPr dirty="0"/>
          </a:p>
          <a:p>
            <a:r>
              <a:rPr dirty="0"/>
              <a:t>NICE CG141: acute upper GI bleeding</a:t>
            </a:r>
          </a:p>
          <a:p>
            <a:r>
              <a:rPr dirty="0"/>
              <a:t>https://www.nice.org.uk/guidance/cg141/chapter/Recommendations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Dyspepsia and H. pylori Optional material after the main talk, followed by 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Dyspepsia refers to epigastric pain or burning, early satiety or postprandial fullness. If H. pylori is negative or symptoms persist after eradication, a PPI trial is appropriate in lower-risk patients. Hold PPIs for 2 weeks and antibiotics/bismuth for 4 weeks before active-infection testing where feasible to avoid false negatives. High-risk background or family history may justify earlier endoscopy.</a:t>
            </a:r>
          </a:p>
          <a:p>
            <a:endParaRPr dirty="0"/>
          </a:p>
          <a:p>
            <a:r>
              <a:rPr dirty="0"/>
              <a:t>Sources:</a:t>
            </a:r>
          </a:p>
          <a:p>
            <a:r>
              <a:rPr dirty="0"/>
              <a:t>ACG/CAG dyspepsia guideline (2017)</a:t>
            </a:r>
          </a:p>
          <a:p>
            <a:r>
              <a:rPr dirty="0"/>
              <a:t>https://pubmed.ncbi.nlm.nih.gov/28631728/</a:t>
            </a:r>
          </a:p>
          <a:p>
            <a:endParaRPr dirty="0"/>
          </a:p>
          <a:p>
            <a:r>
              <a:rPr lang="en-US" dirty="0" smtClean="0"/>
              <a:t>ACG/CAG dyspepsia guideline (2017)</a:t>
            </a:r>
          </a:p>
          <a:p>
            <a:r>
              <a:rPr dirty="0" smtClean="0"/>
              <a:t>https</a:t>
            </a:r>
            <a:r>
              <a:rPr dirty="0"/>
              <a:t>://gi.org/journals-publications/ebgi/schoenfeld_sep2024/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2024 ACG guideline recommends optimized bismuth quadruple therapy for 14 days when susceptibility is unknown. Other recommended options depend on patient factors and availability. Do not select a regimen from symptom response alone. Serology is unsuitable to confirm eradication. Persistent infection after treatment requires review of adherence and prior antibiotics, often with specialist input.</a:t>
            </a:r>
          </a:p>
          <a:p>
            <a:endParaRPr dirty="0"/>
          </a:p>
          <a:p>
            <a:r>
              <a:rPr dirty="0"/>
              <a:t>Sources:</a:t>
            </a:r>
          </a:p>
          <a:p>
            <a:r>
              <a:rPr dirty="0"/>
              <a:t>ACG H. pylori guidance (2024)</a:t>
            </a:r>
          </a:p>
          <a:p>
            <a:r>
              <a:rPr dirty="0"/>
              <a:t>https://gi.org/journals-publications/ebgi/schoenfeld_sep2024/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F0A128-3406-432A-9BA2-CE1449FC29DF}"/>
              </a:ext>
            </a:extLst>
          </p:cNvPr>
          <p:cNvSpPr>
            <a:spLocks noGrp="1"/>
          </p:cNvSpPr>
          <p:nvPr/>
        </p:nvSpPr>
        <p:spPr>
          <a:xfrm>
            <a:off x="762000" y="1819900"/>
            <a:ext cx="10668000" cy="1714500"/>
          </a:xfrm>
          <a:prstGeom prst="rect">
            <a:avLst/>
          </a:prstGeom>
          <a:noFill/>
          <a:ln w="0">
            <a:noFill/>
          </a:ln>
        </p:spPr>
        <p:txBody>
          <a:bodyPr>
            <a:noAutofit/>
          </a:bodyPr>
          <a:lstStyle/>
          <a:p>
            <a:pPr algn="ctr"/>
            <a:r>
              <a:rPr lang="en-US" sz="4000" b="1" dirty="0">
                <a:solidFill>
                  <a:schemeClr val="bg1"/>
                </a:solidFill>
              </a:rPr>
              <a:t>The Triage &amp; Treat Toolkit: </a:t>
            </a:r>
            <a:endParaRPr lang="en-US" sz="4000" b="1" dirty="0" smtClean="0">
              <a:solidFill>
                <a:schemeClr val="bg1"/>
              </a:solidFill>
            </a:endParaRPr>
          </a:p>
          <a:p>
            <a:pPr algn="ctr"/>
            <a:r>
              <a:rPr lang="en-US" sz="4000" b="1" dirty="0" smtClean="0">
                <a:solidFill>
                  <a:schemeClr val="bg1"/>
                </a:solidFill>
              </a:rPr>
              <a:t>Your </a:t>
            </a:r>
            <a:r>
              <a:rPr lang="en-US" sz="4000" b="1" dirty="0">
                <a:solidFill>
                  <a:schemeClr val="bg1"/>
                </a:solidFill>
              </a:rPr>
              <a:t>Decisive Guide to GI Symptoms</a:t>
            </a:r>
          </a:p>
        </p:txBody>
      </p:sp>
      <p:sp>
        <p:nvSpPr>
          <p:cNvPr id="2" name="Rectangle 1">
            <a:extLst>
              <a:ext uri="{FF2B5EF4-FFF2-40B4-BE49-F238E27FC236}">
                <a16:creationId xmlns:a16="http://schemas.microsoft.com/office/drawing/2014/main" id="{87393198-5920-4195-80BD-66A8971AD1A4}"/>
              </a:ext>
            </a:extLst>
          </p:cNvPr>
          <p:cNvSpPr>
            <a:spLocks noGrp="1"/>
          </p:cNvSpPr>
          <p:nvPr/>
        </p:nvSpPr>
        <p:spPr>
          <a:xfrm>
            <a:off x="762000" y="3774186"/>
            <a:ext cx="10477500" cy="666750"/>
          </a:xfrm>
          <a:prstGeom prst="rect">
            <a:avLst/>
          </a:prstGeom>
          <a:noFill/>
          <a:ln w="0">
            <a:noFill/>
          </a:ln>
        </p:spPr>
        <p:txBody>
          <a:bodyPr>
            <a:noAutofit/>
          </a:bodyPr>
          <a:lstStyle/>
          <a:p>
            <a:pPr algn="ctr">
              <a:buNone/>
              <a:defRPr sz="2625" b="0">
                <a:solidFill>
                  <a:srgbClr val="7EE1D1"/>
                </a:solidFill>
                <a:latin typeface="Bitstream Charter"/>
                <a:ea typeface="Bitstream Charter"/>
                <a:cs typeface="Bitstream Charter"/>
              </a:defRPr>
            </a:pPr>
            <a:r>
              <a:rPr sz="2625" b="0" dirty="0">
                <a:solidFill>
                  <a:srgbClr val="7EE1D1"/>
                </a:solidFill>
                <a:latin typeface="Bitstream Charter"/>
                <a:ea typeface="Bitstream Charter"/>
                <a:cs typeface="Bitstream Charter"/>
              </a:rPr>
              <a:t>When to treat, investigate, and refer</a:t>
            </a:r>
          </a:p>
        </p:txBody>
      </p:sp>
      <p:sp>
        <p:nvSpPr>
          <p:cNvPr id="3" name="TextBox 2"/>
          <p:cNvSpPr txBox="1"/>
          <p:nvPr/>
        </p:nvSpPr>
        <p:spPr>
          <a:xfrm>
            <a:off x="630936" y="369448"/>
            <a:ext cx="10930128"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sz="2800" b="1" dirty="0" smtClean="0">
                <a:solidFill>
                  <a:srgbClr val="FFFF00"/>
                </a:solidFill>
              </a:rPr>
              <a:t>23</a:t>
            </a:r>
            <a:r>
              <a:rPr lang="en-US" sz="2800" b="1" baseline="30000" dirty="0" smtClean="0">
                <a:solidFill>
                  <a:srgbClr val="FFFF00"/>
                </a:solidFill>
              </a:rPr>
              <a:t>rd</a:t>
            </a:r>
            <a:r>
              <a:rPr lang="en-US" sz="2800" b="1" dirty="0" smtClean="0">
                <a:solidFill>
                  <a:srgbClr val="FFFF00"/>
                </a:solidFill>
              </a:rPr>
              <a:t> Lebanese Society of General Practice National Congress</a:t>
            </a:r>
            <a:endParaRPr lang="en-US" sz="2800" b="1" dirty="0">
              <a:solidFill>
                <a:srgbClr val="FFFF00"/>
              </a:solidFill>
            </a:endParaRPr>
          </a:p>
        </p:txBody>
      </p:sp>
      <p:sp>
        <p:nvSpPr>
          <p:cNvPr id="5" name="TextBox 4"/>
          <p:cNvSpPr txBox="1"/>
          <p:nvPr/>
        </p:nvSpPr>
        <p:spPr>
          <a:xfrm>
            <a:off x="7522464" y="5388864"/>
            <a:ext cx="3907536" cy="830997"/>
          </a:xfrm>
          <a:prstGeom prst="rect">
            <a:avLst/>
          </a:prstGeom>
          <a:noFill/>
        </p:spPr>
        <p:txBody>
          <a:bodyPr wrap="square" rtlCol="0">
            <a:spAutoFit/>
          </a:bodyPr>
          <a:lstStyle/>
          <a:p>
            <a:r>
              <a:rPr lang="en-US" sz="2400" dirty="0" smtClean="0">
                <a:solidFill>
                  <a:schemeClr val="bg1"/>
                </a:solidFill>
              </a:rPr>
              <a:t>Sarkis KHOURY M.D.</a:t>
            </a:r>
          </a:p>
          <a:p>
            <a:r>
              <a:rPr lang="en-US" sz="2400" dirty="0" smtClean="0">
                <a:solidFill>
                  <a:schemeClr val="bg1"/>
                </a:solidFill>
              </a:rPr>
              <a:t>Gastroenterology, Hepatology</a:t>
            </a:r>
            <a:endParaRPr lang="en-US" sz="2400" dirty="0">
              <a:solidFill>
                <a:schemeClr val="bg1"/>
              </a:solidFill>
            </a:endParaRPr>
          </a:p>
        </p:txBody>
      </p:sp>
    </p:spTree>
    <p:extLst>
      <p:ext uri="{BB962C8B-B14F-4D97-AF65-F5344CB8AC3E}">
        <p14:creationId xmlns:p14="http://schemas.microsoft.com/office/powerpoint/2010/main" val="200012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BF30766-E3EB-4E9C-B043-4A1B1921A12A}"/>
              </a:ext>
            </a:extLst>
          </p:cNvPr>
          <p:cNvSpPr>
            <a:spLocks noGrp="1"/>
          </p:cNvSpPr>
          <p:nvPr/>
        </p:nvSpPr>
        <p:spPr>
          <a:xfrm>
            <a:off x="647700" y="428625"/>
            <a:ext cx="10896600" cy="952500"/>
          </a:xfrm>
          <a:prstGeom prst="rect">
            <a:avLst/>
          </a:prstGeom>
          <a:noFill/>
          <a:ln w="0">
            <a:noFill/>
          </a:ln>
        </p:spPr>
        <p:txBody>
          <a:bodyPr>
            <a:noAutofit/>
          </a:bodyPr>
          <a:lstStyle/>
          <a:p>
            <a:pPr>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The plan for this session</a:t>
            </a:r>
          </a:p>
        </p:txBody>
      </p:sp>
      <p:sp>
        <p:nvSpPr>
          <p:cNvPr id="2" name="Rectangle 1">
            <a:extLst>
              <a:ext uri="{FF2B5EF4-FFF2-40B4-BE49-F238E27FC236}">
                <a16:creationId xmlns:a16="http://schemas.microsoft.com/office/drawing/2014/main" id="{FCD61623-E4EC-4810-A311-C3518C3304C7}"/>
              </a:ext>
            </a:extLst>
          </p:cNvPr>
          <p:cNvSpPr>
            <a:spLocks noGrp="1"/>
          </p:cNvSpPr>
          <p:nvPr/>
        </p:nvSpPr>
        <p:spPr>
          <a:xfrm>
            <a:off x="666750" y="1619250"/>
            <a:ext cx="3905250" cy="428625"/>
          </a:xfrm>
          <a:prstGeom prst="rect">
            <a:avLst/>
          </a:prstGeom>
          <a:noFill/>
          <a:ln w="0">
            <a:noFill/>
          </a:ln>
        </p:spPr>
        <p:txBody>
          <a:bodyPr>
            <a:noAutofit/>
          </a:bodyPr>
          <a:lstStyle/>
          <a:p>
            <a:pPr>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1. Assess the patient</a:t>
            </a:r>
          </a:p>
        </p:txBody>
      </p:sp>
      <p:sp>
        <p:nvSpPr>
          <p:cNvPr id="3" name="Rectangle 2">
            <a:extLst>
              <a:ext uri="{FF2B5EF4-FFF2-40B4-BE49-F238E27FC236}">
                <a16:creationId xmlns:a16="http://schemas.microsoft.com/office/drawing/2014/main" id="{304A2855-7B14-4DCD-AA9D-0258D1EAE356}"/>
              </a:ext>
            </a:extLst>
          </p:cNvPr>
          <p:cNvSpPr>
            <a:spLocks noGrp="1"/>
          </p:cNvSpPr>
          <p:nvPr/>
        </p:nvSpPr>
        <p:spPr>
          <a:xfrm>
            <a:off x="4857750" y="1619250"/>
            <a:ext cx="6429375" cy="428625"/>
          </a:xfrm>
          <a:prstGeom prst="rect">
            <a:avLst/>
          </a:prstGeom>
          <a:noFill/>
          <a:ln w="0">
            <a:noFill/>
          </a:ln>
        </p:spPr>
        <p:txBody>
          <a:bodyPr>
            <a:noAutofit/>
          </a:bodyPr>
          <a:lstStyle/>
          <a:p>
            <a:pPr>
              <a:defRPr sz="2025" b="0">
                <a:solidFill>
                  <a:srgbClr val="183640"/>
                </a:solidFill>
                <a:latin typeface="Bitstream Charter"/>
                <a:ea typeface="Bitstream Charter"/>
                <a:cs typeface="Bitstream Charter"/>
              </a:defRPr>
            </a:pPr>
            <a:r>
              <a:rPr sz="2025" b="0" dirty="0">
                <a:solidFill>
                  <a:srgbClr val="183640"/>
                </a:solidFill>
                <a:latin typeface="Bitstream Charter"/>
                <a:ea typeface="Bitstream Charter"/>
                <a:cs typeface="Bitstream Charter"/>
              </a:rPr>
              <a:t>Emergencies and alarm features</a:t>
            </a:r>
          </a:p>
        </p:txBody>
      </p:sp>
      <p:sp>
        <p:nvSpPr>
          <p:cNvPr id="4" name="Rectangle 3">
            <a:extLst>
              <a:ext uri="{FF2B5EF4-FFF2-40B4-BE49-F238E27FC236}">
                <a16:creationId xmlns:a16="http://schemas.microsoft.com/office/drawing/2014/main" id="{D8B9CB2D-8266-483E-A697-A556FD8C5CF7}"/>
              </a:ext>
            </a:extLst>
          </p:cNvPr>
          <p:cNvSpPr>
            <a:spLocks noGrp="1"/>
          </p:cNvSpPr>
          <p:nvPr/>
        </p:nvSpPr>
        <p:spPr>
          <a:xfrm>
            <a:off x="666750" y="2071116"/>
            <a:ext cx="3905250" cy="428625"/>
          </a:xfrm>
          <a:prstGeom prst="rect">
            <a:avLst/>
          </a:prstGeom>
          <a:noFill/>
          <a:ln w="0">
            <a:noFill/>
          </a:ln>
        </p:spPr>
        <p:txBody>
          <a:bodyPr>
            <a:noAutofit/>
          </a:bodyPr>
          <a:lstStyle/>
          <a:p>
            <a:pPr>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2. Treat in primary care</a:t>
            </a:r>
          </a:p>
        </p:txBody>
      </p:sp>
      <p:sp>
        <p:nvSpPr>
          <p:cNvPr id="5" name="Rectangle 4">
            <a:extLst>
              <a:ext uri="{FF2B5EF4-FFF2-40B4-BE49-F238E27FC236}">
                <a16:creationId xmlns:a16="http://schemas.microsoft.com/office/drawing/2014/main" id="{951C1292-F1F3-4ADC-B35D-BB0AD1F56FC7}"/>
              </a:ext>
            </a:extLst>
          </p:cNvPr>
          <p:cNvSpPr>
            <a:spLocks noGrp="1"/>
          </p:cNvSpPr>
          <p:nvPr/>
        </p:nvSpPr>
        <p:spPr>
          <a:xfrm>
            <a:off x="4857750" y="2071116"/>
            <a:ext cx="6429375" cy="428625"/>
          </a:xfrm>
          <a:prstGeom prst="rect">
            <a:avLst/>
          </a:prstGeom>
          <a:noFill/>
          <a:ln w="0">
            <a:noFill/>
          </a:ln>
        </p:spPr>
        <p:txBody>
          <a:bodyPr>
            <a:noAutofit/>
          </a:bodyPr>
          <a:lstStyle/>
          <a:p>
            <a:pPr>
              <a:defRPr sz="2025" b="0">
                <a:solidFill>
                  <a:srgbClr val="183640"/>
                </a:solidFill>
                <a:latin typeface="Bitstream Charter"/>
                <a:ea typeface="Bitstream Charter"/>
                <a:cs typeface="Bitstream Charter"/>
              </a:defRPr>
            </a:pPr>
            <a:r>
              <a:rPr sz="2025" b="0" dirty="0">
                <a:solidFill>
                  <a:srgbClr val="183640"/>
                </a:solidFill>
                <a:latin typeface="Bitstream Charter"/>
                <a:ea typeface="Bitstream Charter"/>
                <a:cs typeface="Bitstream Charter"/>
              </a:rPr>
              <a:t>Case 1: uncomplicated reflux</a:t>
            </a:r>
          </a:p>
        </p:txBody>
      </p:sp>
      <p:sp>
        <p:nvSpPr>
          <p:cNvPr id="6" name="Rectangle 5">
            <a:extLst>
              <a:ext uri="{FF2B5EF4-FFF2-40B4-BE49-F238E27FC236}">
                <a16:creationId xmlns:a16="http://schemas.microsoft.com/office/drawing/2014/main" id="{ED692505-4BFC-4A4D-9E11-FE34300EC52A}"/>
              </a:ext>
            </a:extLst>
          </p:cNvPr>
          <p:cNvSpPr>
            <a:spLocks noGrp="1"/>
          </p:cNvSpPr>
          <p:nvPr/>
        </p:nvSpPr>
        <p:spPr>
          <a:xfrm>
            <a:off x="666750" y="2559558"/>
            <a:ext cx="3905250" cy="428625"/>
          </a:xfrm>
          <a:prstGeom prst="rect">
            <a:avLst/>
          </a:prstGeom>
          <a:noFill/>
          <a:ln w="0">
            <a:noFill/>
          </a:ln>
        </p:spPr>
        <p:txBody>
          <a:bodyPr>
            <a:noAutofit/>
          </a:bodyPr>
          <a:lstStyle/>
          <a:p>
            <a:pPr>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3. Investigate</a:t>
            </a:r>
          </a:p>
        </p:txBody>
      </p:sp>
      <p:sp>
        <p:nvSpPr>
          <p:cNvPr id="7" name="Rectangle 6">
            <a:extLst>
              <a:ext uri="{FF2B5EF4-FFF2-40B4-BE49-F238E27FC236}">
                <a16:creationId xmlns:a16="http://schemas.microsoft.com/office/drawing/2014/main" id="{9DD4E1CA-D999-45D3-9BB1-1C7164D11705}"/>
              </a:ext>
            </a:extLst>
          </p:cNvPr>
          <p:cNvSpPr>
            <a:spLocks noGrp="1"/>
          </p:cNvSpPr>
          <p:nvPr/>
        </p:nvSpPr>
        <p:spPr>
          <a:xfrm>
            <a:off x="4857750" y="2559558"/>
            <a:ext cx="6429375" cy="428625"/>
          </a:xfrm>
          <a:prstGeom prst="rect">
            <a:avLst/>
          </a:prstGeom>
          <a:noFill/>
          <a:ln w="0">
            <a:noFill/>
          </a:ln>
        </p:spPr>
        <p:txBody>
          <a:bodyPr>
            <a:noAutofit/>
          </a:bodyPr>
          <a:lstStyle/>
          <a:p>
            <a:pPr>
              <a:defRPr sz="2025" b="0">
                <a:solidFill>
                  <a:srgbClr val="183640"/>
                </a:solidFill>
                <a:latin typeface="Bitstream Charter"/>
                <a:ea typeface="Bitstream Charter"/>
                <a:cs typeface="Bitstream Charter"/>
              </a:defRPr>
            </a:pPr>
            <a:r>
              <a:rPr sz="2025" b="0" dirty="0">
                <a:solidFill>
                  <a:srgbClr val="183640"/>
                </a:solidFill>
                <a:latin typeface="Bitstream Charter"/>
                <a:ea typeface="Bitstream Charter"/>
                <a:cs typeface="Bitstream Charter"/>
              </a:rPr>
              <a:t>Case 2: persistent watery diarrhea</a:t>
            </a:r>
          </a:p>
        </p:txBody>
      </p:sp>
      <p:sp>
        <p:nvSpPr>
          <p:cNvPr id="8" name="Rectangle 7">
            <a:extLst>
              <a:ext uri="{FF2B5EF4-FFF2-40B4-BE49-F238E27FC236}">
                <a16:creationId xmlns:a16="http://schemas.microsoft.com/office/drawing/2014/main" id="{E5F97580-0F14-428F-940B-9F46DFCD3AF0}"/>
              </a:ext>
            </a:extLst>
          </p:cNvPr>
          <p:cNvSpPr>
            <a:spLocks noGrp="1"/>
          </p:cNvSpPr>
          <p:nvPr/>
        </p:nvSpPr>
        <p:spPr>
          <a:xfrm>
            <a:off x="666750" y="3072384"/>
            <a:ext cx="3905250" cy="428625"/>
          </a:xfrm>
          <a:prstGeom prst="rect">
            <a:avLst/>
          </a:prstGeom>
          <a:noFill/>
          <a:ln w="0">
            <a:noFill/>
          </a:ln>
        </p:spPr>
        <p:txBody>
          <a:bodyPr>
            <a:noAutofit/>
          </a:bodyPr>
          <a:lstStyle/>
          <a:p>
            <a:pPr>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4. Refer</a:t>
            </a:r>
          </a:p>
        </p:txBody>
      </p:sp>
      <p:sp>
        <p:nvSpPr>
          <p:cNvPr id="9" name="Rectangle 8">
            <a:extLst>
              <a:ext uri="{FF2B5EF4-FFF2-40B4-BE49-F238E27FC236}">
                <a16:creationId xmlns:a16="http://schemas.microsoft.com/office/drawing/2014/main" id="{4E3778F7-1DDF-479D-BD35-794187767D14}"/>
              </a:ext>
            </a:extLst>
          </p:cNvPr>
          <p:cNvSpPr>
            <a:spLocks noGrp="1"/>
          </p:cNvSpPr>
          <p:nvPr/>
        </p:nvSpPr>
        <p:spPr>
          <a:xfrm>
            <a:off x="4857750" y="3072384"/>
            <a:ext cx="6429375" cy="428625"/>
          </a:xfrm>
          <a:prstGeom prst="rect">
            <a:avLst/>
          </a:prstGeom>
          <a:noFill/>
          <a:ln w="0">
            <a:noFill/>
          </a:ln>
        </p:spPr>
        <p:txBody>
          <a:bodyPr>
            <a:noAutofit/>
          </a:bodyPr>
          <a:lstStyle/>
          <a:p>
            <a:pPr>
              <a:defRPr sz="2025" b="0">
                <a:solidFill>
                  <a:srgbClr val="183640"/>
                </a:solidFill>
                <a:latin typeface="Bitstream Charter"/>
                <a:ea typeface="Bitstream Charter"/>
                <a:cs typeface="Bitstream Charter"/>
              </a:defRPr>
            </a:pPr>
            <a:r>
              <a:rPr sz="2025" b="0" dirty="0">
                <a:solidFill>
                  <a:srgbClr val="183640"/>
                </a:solidFill>
                <a:latin typeface="Bitstream Charter"/>
                <a:ea typeface="Bitstream Charter"/>
                <a:cs typeface="Bitstream Charter"/>
              </a:rPr>
              <a:t>Case 3: iron-deficiency anemia</a:t>
            </a:r>
          </a:p>
        </p:txBody>
      </p:sp>
      <p:sp>
        <p:nvSpPr>
          <p:cNvPr id="10" name="Rectangle 9">
            <a:extLst>
              <a:ext uri="{FF2B5EF4-FFF2-40B4-BE49-F238E27FC236}">
                <a16:creationId xmlns:a16="http://schemas.microsoft.com/office/drawing/2014/main" id="{BBA43926-D3CE-4AFF-B32F-14916EA6BAC0}"/>
              </a:ext>
            </a:extLst>
          </p:cNvPr>
          <p:cNvSpPr>
            <a:spLocks noGrp="1"/>
          </p:cNvSpPr>
          <p:nvPr/>
        </p:nvSpPr>
        <p:spPr>
          <a:xfrm>
            <a:off x="666750" y="3585210"/>
            <a:ext cx="3905250" cy="438150"/>
          </a:xfrm>
          <a:prstGeom prst="rect">
            <a:avLst/>
          </a:prstGeom>
          <a:noFill/>
          <a:ln w="0">
            <a:noFill/>
          </a:ln>
        </p:spPr>
        <p:txBody>
          <a:bodyPr>
            <a:noAutofit/>
          </a:bodyPr>
          <a:lstStyle/>
          <a:p>
            <a:pPr>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5. Arrange follow-up</a:t>
            </a:r>
          </a:p>
        </p:txBody>
      </p:sp>
      <p:sp>
        <p:nvSpPr>
          <p:cNvPr id="11" name="Rectangle 10">
            <a:extLst>
              <a:ext uri="{FF2B5EF4-FFF2-40B4-BE49-F238E27FC236}">
                <a16:creationId xmlns:a16="http://schemas.microsoft.com/office/drawing/2014/main" id="{76DD1575-3875-46E2-BA9D-F848A42E96AB}"/>
              </a:ext>
            </a:extLst>
          </p:cNvPr>
          <p:cNvSpPr>
            <a:spLocks noGrp="1"/>
          </p:cNvSpPr>
          <p:nvPr/>
        </p:nvSpPr>
        <p:spPr>
          <a:xfrm>
            <a:off x="4857750" y="3585210"/>
            <a:ext cx="6429375" cy="438150"/>
          </a:xfrm>
          <a:prstGeom prst="rect">
            <a:avLst/>
          </a:prstGeom>
          <a:noFill/>
          <a:ln w="0">
            <a:noFill/>
          </a:ln>
        </p:spPr>
        <p:txBody>
          <a:bodyPr>
            <a:noAutofit/>
          </a:bodyPr>
          <a:lstStyle/>
          <a:p>
            <a:pPr>
              <a:defRPr sz="2025" b="0">
                <a:solidFill>
                  <a:srgbClr val="183640"/>
                </a:solidFill>
                <a:latin typeface="Bitstream Charter"/>
                <a:ea typeface="Bitstream Charter"/>
                <a:cs typeface="Bitstream Charter"/>
              </a:defRPr>
            </a:pPr>
            <a:r>
              <a:rPr sz="2025" b="0" dirty="0">
                <a:solidFill>
                  <a:srgbClr val="183640"/>
                </a:solidFill>
                <a:latin typeface="Bitstream Charter"/>
                <a:ea typeface="Bitstream Charter"/>
                <a:cs typeface="Bitstream Charter"/>
              </a:rPr>
              <a:t>Results, referrals and reassessment</a:t>
            </a:r>
          </a:p>
        </p:txBody>
      </p:sp>
      <p:sp>
        <p:nvSpPr>
          <p:cNvPr id="12" name="Rectangle 11">
            <a:extLst>
              <a:ext uri="{FF2B5EF4-FFF2-40B4-BE49-F238E27FC236}">
                <a16:creationId xmlns:a16="http://schemas.microsoft.com/office/drawing/2014/main" id="{F0005AD4-3E07-4F6F-B342-E0929B320F51}"/>
              </a:ext>
            </a:extLst>
          </p:cNvPr>
          <p:cNvSpPr>
            <a:spLocks noGrp="1"/>
          </p:cNvSpPr>
          <p:nvPr/>
        </p:nvSpPr>
        <p:spPr>
          <a:xfrm>
            <a:off x="666750" y="4311777"/>
            <a:ext cx="10477500" cy="619125"/>
          </a:xfrm>
          <a:prstGeom prst="rect">
            <a:avLst/>
          </a:prstGeom>
          <a:noFill/>
          <a:ln w="0">
            <a:noFill/>
          </a:ln>
        </p:spPr>
        <p:txBody>
          <a:bodyPr>
            <a:noAutofit/>
          </a:bodyPr>
          <a:lstStyle/>
          <a:p>
            <a:pPr>
              <a:defRPr sz="1725" b="1">
                <a:solidFill>
                  <a:srgbClr val="53717B"/>
                </a:solidFill>
                <a:latin typeface="Bitstream Charter"/>
                <a:ea typeface="Bitstream Charter"/>
                <a:cs typeface="Bitstream Charter"/>
              </a:defRPr>
            </a:pPr>
            <a:r>
              <a:rPr sz="1725" b="1">
                <a:solidFill>
                  <a:srgbClr val="53717B"/>
                </a:solidFill>
                <a:latin typeface="Bitstream Charter"/>
                <a:ea typeface="Bitstream Charter"/>
                <a:cs typeface="Bitstream Charter"/>
              </a:rPr>
              <a:t>Additional dyspepsia and H. pylori guidance follows the main talk in the appendix.</a:t>
            </a:r>
          </a:p>
        </p:txBody>
      </p:sp>
      <p:pic>
        <p:nvPicPr>
          <p:cNvPr id="14" name="Picture 13"/>
          <p:cNvPicPr>
            <a:picLocks noChangeAspect="1"/>
          </p:cNvPicPr>
          <p:nvPr/>
        </p:nvPicPr>
        <p:blipFill>
          <a:blip r:embed="rId3"/>
          <a:stretch>
            <a:fillRect/>
          </a:stretch>
        </p:blipFill>
        <p:spPr>
          <a:xfrm>
            <a:off x="2604230" y="4930902"/>
            <a:ext cx="6602540" cy="1865538"/>
          </a:xfrm>
          <a:prstGeom prst="rect">
            <a:avLst/>
          </a:prstGeom>
        </p:spPr>
      </p:pic>
    </p:spTree>
    <p:extLst>
      <p:ext uri="{BB962C8B-B14F-4D97-AF65-F5344CB8AC3E}">
        <p14:creationId xmlns:p14="http://schemas.microsoft.com/office/powerpoint/2010/main" val="586763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FDB701-D4AC-4216-BC2C-40E24FF8FCF4}"/>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Three decisions at the first visit</a:t>
            </a:r>
          </a:p>
        </p:txBody>
      </p:sp>
      <p:sp>
        <p:nvSpPr>
          <p:cNvPr id="2" name="Rectangle 1">
            <a:extLst>
              <a:ext uri="{FF2B5EF4-FFF2-40B4-BE49-F238E27FC236}">
                <a16:creationId xmlns:a16="http://schemas.microsoft.com/office/drawing/2014/main" id="{D19B8633-ADFF-41E3-AEDC-B9CC329FE17F}"/>
              </a:ext>
            </a:extLst>
          </p:cNvPr>
          <p:cNvSpPr>
            <a:spLocks noGrp="1"/>
          </p:cNvSpPr>
          <p:nvPr/>
        </p:nvSpPr>
        <p:spPr>
          <a:xfrm>
            <a:off x="666750" y="1411987"/>
            <a:ext cx="2714625" cy="401194"/>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TREAT</a:t>
            </a:r>
          </a:p>
        </p:txBody>
      </p:sp>
      <p:sp>
        <p:nvSpPr>
          <p:cNvPr id="3" name="Rectangle 2">
            <a:extLst>
              <a:ext uri="{FF2B5EF4-FFF2-40B4-BE49-F238E27FC236}">
                <a16:creationId xmlns:a16="http://schemas.microsoft.com/office/drawing/2014/main" id="{15B68E13-9693-4AC8-8C51-64CBC3E32ADE}"/>
              </a:ext>
            </a:extLst>
          </p:cNvPr>
          <p:cNvSpPr>
            <a:spLocks noGrp="1"/>
          </p:cNvSpPr>
          <p:nvPr/>
        </p:nvSpPr>
        <p:spPr>
          <a:xfrm>
            <a:off x="3524250" y="1411986"/>
            <a:ext cx="7810500" cy="695325"/>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A likely benign diagnosis, no alarm features, and a defined treatment trial.</a:t>
            </a:r>
          </a:p>
        </p:txBody>
      </p:sp>
      <p:sp>
        <p:nvSpPr>
          <p:cNvPr id="4" name="Rectangle 3">
            <a:extLst>
              <a:ext uri="{FF2B5EF4-FFF2-40B4-BE49-F238E27FC236}">
                <a16:creationId xmlns:a16="http://schemas.microsoft.com/office/drawing/2014/main" id="{18B110E2-427B-4B5F-B590-E5FFFF771D1C}"/>
              </a:ext>
            </a:extLst>
          </p:cNvPr>
          <p:cNvSpPr>
            <a:spLocks noGrp="1"/>
          </p:cNvSpPr>
          <p:nvPr/>
        </p:nvSpPr>
        <p:spPr>
          <a:xfrm>
            <a:off x="666750" y="2680335"/>
            <a:ext cx="2714625" cy="526161"/>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INVESTIGATE</a:t>
            </a:r>
          </a:p>
        </p:txBody>
      </p:sp>
      <p:sp>
        <p:nvSpPr>
          <p:cNvPr id="5" name="Rectangle 4">
            <a:extLst>
              <a:ext uri="{FF2B5EF4-FFF2-40B4-BE49-F238E27FC236}">
                <a16:creationId xmlns:a16="http://schemas.microsoft.com/office/drawing/2014/main" id="{23B31A61-4A12-469E-85D6-17AB5619FA5E}"/>
              </a:ext>
            </a:extLst>
          </p:cNvPr>
          <p:cNvSpPr>
            <a:spLocks noGrp="1"/>
          </p:cNvSpPr>
          <p:nvPr/>
        </p:nvSpPr>
        <p:spPr>
          <a:xfrm>
            <a:off x="3524250" y="2680335"/>
            <a:ext cx="7810500" cy="719709"/>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A stable patient whose symptoms need targeted tests to clarify the cause.</a:t>
            </a:r>
          </a:p>
        </p:txBody>
      </p:sp>
      <p:sp>
        <p:nvSpPr>
          <p:cNvPr id="6" name="Rectangle 5">
            <a:extLst>
              <a:ext uri="{FF2B5EF4-FFF2-40B4-BE49-F238E27FC236}">
                <a16:creationId xmlns:a16="http://schemas.microsoft.com/office/drawing/2014/main" id="{02F46BA9-CFE6-49BB-8276-AB319B7ABE3E}"/>
              </a:ext>
            </a:extLst>
          </p:cNvPr>
          <p:cNvSpPr>
            <a:spLocks noGrp="1"/>
          </p:cNvSpPr>
          <p:nvPr/>
        </p:nvSpPr>
        <p:spPr>
          <a:xfrm>
            <a:off x="666750" y="3899917"/>
            <a:ext cx="2714625" cy="489204"/>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REFER</a:t>
            </a:r>
          </a:p>
        </p:txBody>
      </p:sp>
      <p:sp>
        <p:nvSpPr>
          <p:cNvPr id="7" name="Rectangle 6">
            <a:extLst>
              <a:ext uri="{FF2B5EF4-FFF2-40B4-BE49-F238E27FC236}">
                <a16:creationId xmlns:a16="http://schemas.microsoft.com/office/drawing/2014/main" id="{7676E703-8B0B-44EB-B02F-642EF08F5405}"/>
              </a:ext>
            </a:extLst>
          </p:cNvPr>
          <p:cNvSpPr>
            <a:spLocks noGrp="1"/>
          </p:cNvSpPr>
          <p:nvPr/>
        </p:nvSpPr>
        <p:spPr>
          <a:xfrm>
            <a:off x="3524250" y="3899916"/>
            <a:ext cx="7810500" cy="749617"/>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Alarm features, likely organic disease, or persistent symptoms despite appropriate care.</a:t>
            </a:r>
          </a:p>
        </p:txBody>
      </p:sp>
      <p:sp>
        <p:nvSpPr>
          <p:cNvPr id="8" name="Rectangle 7">
            <a:extLst>
              <a:ext uri="{FF2B5EF4-FFF2-40B4-BE49-F238E27FC236}">
                <a16:creationId xmlns:a16="http://schemas.microsoft.com/office/drawing/2014/main" id="{6DF902F3-8616-4DD3-BDE4-6A543FA55D93}"/>
              </a:ext>
            </a:extLst>
          </p:cNvPr>
          <p:cNvSpPr>
            <a:spLocks noGrp="1"/>
          </p:cNvSpPr>
          <p:nvPr/>
        </p:nvSpPr>
        <p:spPr>
          <a:xfrm>
            <a:off x="751332" y="5120640"/>
            <a:ext cx="5545836"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Treatment, testing and referral can occur together. </a:t>
            </a:r>
            <a:endParaRPr lang="en-US" sz="1725" b="1" dirty="0" smtClean="0">
              <a:solidFill>
                <a:srgbClr val="53717B"/>
              </a:solidFill>
              <a:latin typeface="Bitstream Charter"/>
              <a:ea typeface="Bitstream Charter"/>
              <a:cs typeface="Bitstream Charter"/>
            </a:endParaRPr>
          </a:p>
          <a:p>
            <a:pPr>
              <a:buNone/>
              <a:defRPr sz="1725" b="1">
                <a:solidFill>
                  <a:srgbClr val="53717B"/>
                </a:solidFill>
                <a:latin typeface="Bitstream Charter"/>
                <a:ea typeface="Bitstream Charter"/>
                <a:cs typeface="Bitstream Charter"/>
              </a:defRPr>
            </a:pPr>
            <a:r>
              <a:rPr sz="1725" b="1" dirty="0" smtClean="0">
                <a:solidFill>
                  <a:srgbClr val="53717B"/>
                </a:solidFill>
                <a:latin typeface="Bitstream Charter"/>
                <a:ea typeface="Bitstream Charter"/>
                <a:cs typeface="Bitstream Charter"/>
              </a:rPr>
              <a:t>An </a:t>
            </a:r>
            <a:r>
              <a:rPr sz="1725" b="1" dirty="0">
                <a:solidFill>
                  <a:srgbClr val="53717B"/>
                </a:solidFill>
                <a:latin typeface="Bitstream Charter"/>
                <a:ea typeface="Bitstream Charter"/>
                <a:cs typeface="Bitstream Charter"/>
              </a:rPr>
              <a:t>emergency bypasses the outpatient pathway.</a:t>
            </a:r>
          </a:p>
        </p:txBody>
      </p:sp>
    </p:spTree>
    <p:extLst>
      <p:ext uri="{BB962C8B-B14F-4D97-AF65-F5344CB8AC3E}">
        <p14:creationId xmlns:p14="http://schemas.microsoft.com/office/powerpoint/2010/main" val="108091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C686F-D0D2-4515-BE58-97A6A7CAA082}"/>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a:solidFill>
                  <a:srgbClr val="FFFFFF"/>
                </a:solidFill>
                <a:latin typeface="Bitstream Charter"/>
                <a:ea typeface="Bitstream Charter"/>
                <a:cs typeface="Bitstream Charter"/>
              </a:rPr>
              <a:t>Initial assessment</a:t>
            </a:r>
          </a:p>
        </p:txBody>
      </p:sp>
      <p:sp>
        <p:nvSpPr>
          <p:cNvPr id="3" name="Rectangle 2">
            <a:extLst>
              <a:ext uri="{FF2B5EF4-FFF2-40B4-BE49-F238E27FC236}">
                <a16:creationId xmlns:a16="http://schemas.microsoft.com/office/drawing/2014/main" id="{0EB145E3-9D52-4232-8DD6-1423A4DA7C95}"/>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Does this patient need immediate or expedited care?</a:t>
            </a:r>
          </a:p>
        </p:txBody>
      </p:sp>
      <p:sp>
        <p:nvSpPr>
          <p:cNvPr id="4" name="Rectangle 3">
            <a:extLst>
              <a:ext uri="{FF2B5EF4-FFF2-40B4-BE49-F238E27FC236}">
                <a16:creationId xmlns:a16="http://schemas.microsoft.com/office/drawing/2014/main" id="{389CB551-520F-4178-A1D6-6EF48A9C7C6B}"/>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Assessment, emergency example and alarm features</a:t>
            </a:r>
          </a:p>
        </p:txBody>
      </p:sp>
    </p:spTree>
    <p:extLst>
      <p:ext uri="{BB962C8B-B14F-4D97-AF65-F5344CB8AC3E}">
        <p14:creationId xmlns:p14="http://schemas.microsoft.com/office/powerpoint/2010/main" val="146148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441F0B-586A-4966-9992-CA9259FA9FAC}"/>
              </a:ext>
            </a:extLst>
          </p:cNvPr>
          <p:cNvSpPr>
            <a:spLocks noGrp="1"/>
          </p:cNvSpPr>
          <p:nvPr/>
        </p:nvSpPr>
        <p:spPr>
          <a:xfrm>
            <a:off x="647700" y="428625"/>
            <a:ext cx="10896600" cy="952500"/>
          </a:xfrm>
          <a:prstGeom prst="rect">
            <a:avLst/>
          </a:prstGeom>
          <a:noFill/>
          <a:ln w="0">
            <a:noFill/>
          </a:ln>
        </p:spPr>
        <p:txBody>
          <a:bodyPr>
            <a:noAutofit/>
          </a:bodyPr>
          <a:lstStyle/>
          <a:p>
            <a:pPr algn="ct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Initial assessment</a:t>
            </a:r>
          </a:p>
        </p:txBody>
      </p:sp>
      <p:sp>
        <p:nvSpPr>
          <p:cNvPr id="2" name="Rectangle 1">
            <a:extLst>
              <a:ext uri="{FF2B5EF4-FFF2-40B4-BE49-F238E27FC236}">
                <a16:creationId xmlns:a16="http://schemas.microsoft.com/office/drawing/2014/main" id="{3FF8DDEB-AB6F-43AE-93F5-F35C5B82FC54}"/>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History</a:t>
            </a:r>
          </a:p>
        </p:txBody>
      </p:sp>
      <p:sp>
        <p:nvSpPr>
          <p:cNvPr id="3" name="Rectangle 2">
            <a:extLst>
              <a:ext uri="{FF2B5EF4-FFF2-40B4-BE49-F238E27FC236}">
                <a16:creationId xmlns:a16="http://schemas.microsoft.com/office/drawing/2014/main" id="{58EA7C35-95E3-4109-959E-52BF33587A9A}"/>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Onset, duration, severity, stool pattern, bleeding, swallowing, vomiting and weight change.</a:t>
            </a:r>
          </a:p>
        </p:txBody>
      </p:sp>
      <p:sp>
        <p:nvSpPr>
          <p:cNvPr id="4" name="Rectangle 3">
            <a:extLst>
              <a:ext uri="{FF2B5EF4-FFF2-40B4-BE49-F238E27FC236}">
                <a16:creationId xmlns:a16="http://schemas.microsoft.com/office/drawing/2014/main" id="{DE2CC3CB-253F-4A11-9522-012674F08C3B}"/>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Context</a:t>
            </a:r>
          </a:p>
        </p:txBody>
      </p:sp>
      <p:sp>
        <p:nvSpPr>
          <p:cNvPr id="5" name="Rectangle 4">
            <a:extLst>
              <a:ext uri="{FF2B5EF4-FFF2-40B4-BE49-F238E27FC236}">
                <a16:creationId xmlns:a16="http://schemas.microsoft.com/office/drawing/2014/main" id="{ACF793BC-57CD-4539-B3A7-0AC93F44FEA4}"/>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Medications, travel, family history, previous tests, cancer risk and impact on daily life.</a:t>
            </a:r>
          </a:p>
        </p:txBody>
      </p:sp>
      <p:sp>
        <p:nvSpPr>
          <p:cNvPr id="6" name="Rectangle 5">
            <a:extLst>
              <a:ext uri="{FF2B5EF4-FFF2-40B4-BE49-F238E27FC236}">
                <a16:creationId xmlns:a16="http://schemas.microsoft.com/office/drawing/2014/main" id="{224EA8C0-110D-4FF9-BF2D-A08BF8E61B7F}"/>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Examination</a:t>
            </a:r>
          </a:p>
        </p:txBody>
      </p:sp>
      <p:sp>
        <p:nvSpPr>
          <p:cNvPr id="7" name="Rectangle 6">
            <a:extLst>
              <a:ext uri="{FF2B5EF4-FFF2-40B4-BE49-F238E27FC236}">
                <a16:creationId xmlns:a16="http://schemas.microsoft.com/office/drawing/2014/main" id="{7FFA075B-7A00-4809-9A24-C7C66735D666}"/>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Vitals, hydration, pallor, abdominal findings, jaundice and rectal examination when indicated.</a:t>
            </a:r>
          </a:p>
        </p:txBody>
      </p:sp>
      <p:sp>
        <p:nvSpPr>
          <p:cNvPr id="8" name="Rectangle 7">
            <a:extLst>
              <a:ext uri="{FF2B5EF4-FFF2-40B4-BE49-F238E27FC236}">
                <a16:creationId xmlns:a16="http://schemas.microsoft.com/office/drawing/2014/main" id="{8E233A7D-4133-4825-AD20-C0BB940E878D}"/>
              </a:ext>
            </a:extLst>
          </p:cNvPr>
          <p:cNvSpPr>
            <a:spLocks noGrp="1"/>
          </p:cNvSpPr>
          <p:nvPr/>
        </p:nvSpPr>
        <p:spPr>
          <a:xfrm>
            <a:off x="666750" y="5307806"/>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A medication review often changes the plan: NSAIDs, anticoagulants, metformin, opioids and supplements.</a:t>
            </a:r>
          </a:p>
        </p:txBody>
      </p:sp>
      <p:sp>
        <p:nvSpPr>
          <p:cNvPr id="9" name="Rectangle 8"/>
          <p:cNvSpPr/>
          <p:nvPr/>
        </p:nvSpPr>
        <p:spPr>
          <a:xfrm>
            <a:off x="9273144" y="6381750"/>
            <a:ext cx="2740943" cy="369332"/>
          </a:xfrm>
          <a:prstGeom prst="rect">
            <a:avLst/>
          </a:prstGeom>
        </p:spPr>
        <p:txBody>
          <a:bodyPr wrap="none">
            <a:spAutoFit/>
          </a:bodyPr>
          <a:lstStyle/>
          <a:p>
            <a:r>
              <a:rPr lang="en-US" dirty="0"/>
              <a:t>ACG GERD guideline (2022)</a:t>
            </a:r>
          </a:p>
        </p:txBody>
      </p:sp>
      <p:sp>
        <p:nvSpPr>
          <p:cNvPr id="11" name="Rectangle 10"/>
          <p:cNvSpPr/>
          <p:nvPr/>
        </p:nvSpPr>
        <p:spPr>
          <a:xfrm>
            <a:off x="9273144" y="6072187"/>
            <a:ext cx="2439642" cy="369332"/>
          </a:xfrm>
          <a:prstGeom prst="rect">
            <a:avLst/>
          </a:prstGeom>
        </p:spPr>
        <p:txBody>
          <a:bodyPr wrap="none">
            <a:spAutoFit/>
          </a:bodyPr>
          <a:lstStyle/>
          <a:p>
            <a:r>
              <a:rPr lang="en-US" dirty="0"/>
              <a:t>NICE CG61: IBS in adults</a:t>
            </a:r>
          </a:p>
        </p:txBody>
      </p:sp>
    </p:spTree>
    <p:extLst>
      <p:ext uri="{BB962C8B-B14F-4D97-AF65-F5344CB8AC3E}">
        <p14:creationId xmlns:p14="http://schemas.microsoft.com/office/powerpoint/2010/main" val="110763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E462BD-138C-4111-9410-103643B0E45E}"/>
              </a:ext>
            </a:extLst>
          </p:cNvPr>
          <p:cNvSpPr>
            <a:spLocks noGrp="1"/>
          </p:cNvSpPr>
          <p:nvPr/>
        </p:nvSpPr>
        <p:spPr>
          <a:xfrm>
            <a:off x="647700" y="428625"/>
            <a:ext cx="10896600" cy="952500"/>
          </a:xfrm>
          <a:prstGeom prst="rect">
            <a:avLst/>
          </a:prstGeom>
          <a:noFill/>
          <a:ln w="0">
            <a:noFill/>
          </a:ln>
        </p:spPr>
        <p:txBody>
          <a:bodyPr>
            <a:noAutofit/>
          </a:bodyPr>
          <a:lstStyle/>
          <a:p>
            <a:pPr algn="ct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Emergency assessment comes first</a:t>
            </a:r>
          </a:p>
        </p:txBody>
      </p:sp>
      <p:sp>
        <p:nvSpPr>
          <p:cNvPr id="2" name="Rectangle 1">
            <a:extLst>
              <a:ext uri="{FF2B5EF4-FFF2-40B4-BE49-F238E27FC236}">
                <a16:creationId xmlns:a16="http://schemas.microsoft.com/office/drawing/2014/main" id="{041C2467-82AD-4CFB-971E-96887487B540}"/>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Bleeding with instability</a:t>
            </a:r>
          </a:p>
        </p:txBody>
      </p:sp>
      <p:sp>
        <p:nvSpPr>
          <p:cNvPr id="3" name="Rectangle 2">
            <a:extLst>
              <a:ext uri="{FF2B5EF4-FFF2-40B4-BE49-F238E27FC236}">
                <a16:creationId xmlns:a16="http://schemas.microsoft.com/office/drawing/2014/main" id="{DC1B426A-01E3-41E8-9369-58E898FDC20E}"/>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Hematemesis or melena with syncope, hypotension, tachycardia or poor perfusion.</a:t>
            </a:r>
          </a:p>
        </p:txBody>
      </p:sp>
      <p:sp>
        <p:nvSpPr>
          <p:cNvPr id="4" name="Rectangle 3">
            <a:extLst>
              <a:ext uri="{FF2B5EF4-FFF2-40B4-BE49-F238E27FC236}">
                <a16:creationId xmlns:a16="http://schemas.microsoft.com/office/drawing/2014/main" id="{C2242B00-9977-4A12-B65F-17AE766AEF30}"/>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Acute abdominal illness</a:t>
            </a:r>
          </a:p>
        </p:txBody>
      </p:sp>
      <p:sp>
        <p:nvSpPr>
          <p:cNvPr id="5" name="Rectangle 4">
            <a:extLst>
              <a:ext uri="{FF2B5EF4-FFF2-40B4-BE49-F238E27FC236}">
                <a16:creationId xmlns:a16="http://schemas.microsoft.com/office/drawing/2014/main" id="{16788BBB-C609-4CC6-949E-1E9452E2922A}"/>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Peritonism, severe escalating pain, obstruction features or severe dehydration.</a:t>
            </a:r>
          </a:p>
        </p:txBody>
      </p:sp>
      <p:sp>
        <p:nvSpPr>
          <p:cNvPr id="6" name="Rectangle 5">
            <a:extLst>
              <a:ext uri="{FF2B5EF4-FFF2-40B4-BE49-F238E27FC236}">
                <a16:creationId xmlns:a16="http://schemas.microsoft.com/office/drawing/2014/main" id="{2ADD9C94-7E26-4702-88D4-58083100DFA5}"/>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Other immediate risks</a:t>
            </a:r>
          </a:p>
        </p:txBody>
      </p:sp>
      <p:sp>
        <p:nvSpPr>
          <p:cNvPr id="7" name="Rectangle 6">
            <a:extLst>
              <a:ext uri="{FF2B5EF4-FFF2-40B4-BE49-F238E27FC236}">
                <a16:creationId xmlns:a16="http://schemas.microsoft.com/office/drawing/2014/main" id="{1ECE20AD-B355-4D09-91D6-6E28684047B2}"/>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Food impaction with inability to swallow saliva, or jaundice with fever and systemic illness.</a:t>
            </a:r>
          </a:p>
        </p:txBody>
      </p:sp>
      <p:sp>
        <p:nvSpPr>
          <p:cNvPr id="8" name="Rectangle 7">
            <a:extLst>
              <a:ext uri="{FF2B5EF4-FFF2-40B4-BE49-F238E27FC236}">
                <a16:creationId xmlns:a16="http://schemas.microsoft.com/office/drawing/2014/main" id="{8C660529-8CB1-4858-9ACC-D19779B43F9D}"/>
              </a:ext>
            </a:extLst>
          </p:cNvPr>
          <p:cNvSpPr>
            <a:spLocks noGrp="1"/>
          </p:cNvSpPr>
          <p:nvPr/>
        </p:nvSpPr>
        <p:spPr>
          <a:xfrm>
            <a:off x="666750" y="5762625"/>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a:solidFill>
                  <a:srgbClr val="53717B"/>
                </a:solidFill>
                <a:latin typeface="Bitstream Charter"/>
                <a:ea typeface="Bitstream Charter"/>
                <a:cs typeface="Bitstream Charter"/>
              </a:rPr>
              <a:t>Arrange immediate hospital assessment. Stabilize within available resources without delaying transfer.</a:t>
            </a:r>
          </a:p>
        </p:txBody>
      </p:sp>
      <p:sp>
        <p:nvSpPr>
          <p:cNvPr id="9" name="Rectangle 8"/>
          <p:cNvSpPr/>
          <p:nvPr/>
        </p:nvSpPr>
        <p:spPr>
          <a:xfrm>
            <a:off x="8321812" y="6381750"/>
            <a:ext cx="3668248" cy="369332"/>
          </a:xfrm>
          <a:prstGeom prst="rect">
            <a:avLst/>
          </a:prstGeom>
        </p:spPr>
        <p:txBody>
          <a:bodyPr wrap="none">
            <a:spAutoFit/>
          </a:bodyPr>
          <a:lstStyle/>
          <a:p>
            <a:r>
              <a:rPr lang="nb-NO" dirty="0"/>
              <a:t>NICE CG141: acute upper GI bleeding</a:t>
            </a:r>
          </a:p>
        </p:txBody>
      </p:sp>
      <p:pic>
        <p:nvPicPr>
          <p:cNvPr id="13" name="Picture 12"/>
          <p:cNvPicPr>
            <a:picLocks noChangeAspect="1"/>
          </p:cNvPicPr>
          <p:nvPr/>
        </p:nvPicPr>
        <p:blipFill>
          <a:blip r:embed="rId3"/>
          <a:stretch>
            <a:fillRect/>
          </a:stretch>
        </p:blipFill>
        <p:spPr>
          <a:xfrm>
            <a:off x="10707319" y="252337"/>
            <a:ext cx="1254861" cy="1366913"/>
          </a:xfrm>
          <a:prstGeom prst="rect">
            <a:avLst/>
          </a:prstGeom>
        </p:spPr>
      </p:pic>
    </p:spTree>
    <p:extLst>
      <p:ext uri="{BB962C8B-B14F-4D97-AF65-F5344CB8AC3E}">
        <p14:creationId xmlns:p14="http://schemas.microsoft.com/office/powerpoint/2010/main" val="483027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83909F-D1B0-458F-AA2B-B12DD4A02DBC}"/>
              </a:ext>
            </a:extLst>
          </p:cNvPr>
          <p:cNvSpPr>
            <a:spLocks noGrp="1"/>
          </p:cNvSpPr>
          <p:nvPr/>
        </p:nvSpPr>
        <p:spPr>
          <a:xfrm>
            <a:off x="647700" y="428625"/>
            <a:ext cx="10896600" cy="952500"/>
          </a:xfrm>
          <a:prstGeom prst="rect">
            <a:avLst/>
          </a:prstGeom>
          <a:noFill/>
          <a:ln w="0">
            <a:noFill/>
          </a:ln>
        </p:spPr>
        <p:txBody>
          <a:bodyPr>
            <a:noAutofit/>
          </a:bodyPr>
          <a:lstStyle/>
          <a:p>
            <a:pPr algn="ct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Emergency example: melena and syncope</a:t>
            </a:r>
          </a:p>
        </p:txBody>
      </p:sp>
      <p:sp>
        <p:nvSpPr>
          <p:cNvPr id="2" name="Rectangle 1">
            <a:extLst>
              <a:ext uri="{FF2B5EF4-FFF2-40B4-BE49-F238E27FC236}">
                <a16:creationId xmlns:a16="http://schemas.microsoft.com/office/drawing/2014/main" id="{716635E9-0D82-4935-B05F-C83312FF4D20}"/>
              </a:ext>
            </a:extLst>
          </p:cNvPr>
          <p:cNvSpPr>
            <a:spLocks noGrp="1"/>
          </p:cNvSpPr>
          <p:nvPr/>
        </p:nvSpPr>
        <p:spPr>
          <a:xfrm>
            <a:off x="723900" y="161925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A 70-year-old taking an NSAID develops black tarry stools and fainting.</a:t>
            </a:r>
          </a:p>
        </p:txBody>
      </p:sp>
      <p:sp>
        <p:nvSpPr>
          <p:cNvPr id="3" name="Rectangle 2">
            <a:extLst>
              <a:ext uri="{FF2B5EF4-FFF2-40B4-BE49-F238E27FC236}">
                <a16:creationId xmlns:a16="http://schemas.microsoft.com/office/drawing/2014/main" id="{78FC453F-6DEC-4434-8BB1-15A1F41491D8}"/>
              </a:ext>
            </a:extLst>
          </p:cNvPr>
          <p:cNvSpPr>
            <a:spLocks noGrp="1"/>
          </p:cNvSpPr>
          <p:nvPr/>
        </p:nvSpPr>
        <p:spPr>
          <a:xfrm>
            <a:off x="723900" y="26289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BP 88/54 mmHg, pulse 118/min, pale and clammy.</a:t>
            </a:r>
          </a:p>
        </p:txBody>
      </p:sp>
      <p:sp>
        <p:nvSpPr>
          <p:cNvPr id="4" name="Rectangle 3">
            <a:extLst>
              <a:ext uri="{FF2B5EF4-FFF2-40B4-BE49-F238E27FC236}">
                <a16:creationId xmlns:a16="http://schemas.microsoft.com/office/drawing/2014/main" id="{0B01E853-6686-4380-A01A-82728B623C2B}"/>
              </a:ext>
            </a:extLst>
          </p:cNvPr>
          <p:cNvSpPr>
            <a:spLocks noGrp="1"/>
          </p:cNvSpPr>
          <p:nvPr/>
        </p:nvSpPr>
        <p:spPr>
          <a:xfrm>
            <a:off x="723900" y="363855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This patient needs emergency hospital transfer and resuscitation.</a:t>
            </a:r>
          </a:p>
        </p:txBody>
      </p:sp>
      <p:sp>
        <p:nvSpPr>
          <p:cNvPr id="5" name="Rectangle 4">
            <a:extLst>
              <a:ext uri="{FF2B5EF4-FFF2-40B4-BE49-F238E27FC236}">
                <a16:creationId xmlns:a16="http://schemas.microsoft.com/office/drawing/2014/main" id="{9C921EE0-7207-413F-9198-5A616BC494F1}"/>
              </a:ext>
            </a:extLst>
          </p:cNvPr>
          <p:cNvSpPr>
            <a:spLocks noGrp="1"/>
          </p:cNvSpPr>
          <p:nvPr/>
        </p:nvSpPr>
        <p:spPr>
          <a:xfrm>
            <a:off x="723900" y="46482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Do not wait for outpatient blood tests or a routine endoscopy appointment.</a:t>
            </a:r>
          </a:p>
        </p:txBody>
      </p:sp>
      <p:sp>
        <p:nvSpPr>
          <p:cNvPr id="6" name="Rectangle 5">
            <a:extLst>
              <a:ext uri="{FF2B5EF4-FFF2-40B4-BE49-F238E27FC236}">
                <a16:creationId xmlns:a16="http://schemas.microsoft.com/office/drawing/2014/main" id="{89AD526B-CC3A-4E22-92FE-776D6ED2AAB1}"/>
              </a:ext>
            </a:extLst>
          </p:cNvPr>
          <p:cNvSpPr>
            <a:spLocks noGrp="1"/>
          </p:cNvSpPr>
          <p:nvPr/>
        </p:nvSpPr>
        <p:spPr>
          <a:xfrm>
            <a:off x="666750" y="5762625"/>
            <a:ext cx="10477500" cy="619125"/>
          </a:xfrm>
          <a:prstGeom prst="rect">
            <a:avLst/>
          </a:prstGeom>
          <a:noFill/>
          <a:ln w="0">
            <a:noFill/>
          </a:ln>
        </p:spPr>
        <p:txBody>
          <a:bodyPr>
            <a:noAutofit/>
          </a:bodyPr>
          <a:lstStyle/>
          <a:p>
            <a:pPr>
              <a:buNone/>
              <a:defRPr sz="1725" b="1">
                <a:solidFill>
                  <a:srgbClr val="087D70"/>
                </a:solidFill>
                <a:latin typeface="Bitstream Charter"/>
                <a:ea typeface="Bitstream Charter"/>
                <a:cs typeface="Bitstream Charter"/>
              </a:defRPr>
            </a:pPr>
            <a:r>
              <a:rPr sz="1725" b="1">
                <a:solidFill>
                  <a:srgbClr val="087D70"/>
                </a:solidFill>
                <a:latin typeface="Bitstream Charter"/>
                <a:ea typeface="Bitstream Charter"/>
                <a:cs typeface="Bitstream Charter"/>
              </a:rPr>
              <a:t>Hospital endoscopy follows initial resuscitation, urgently in an unstable severe bleed.</a:t>
            </a:r>
          </a:p>
        </p:txBody>
      </p:sp>
      <p:sp>
        <p:nvSpPr>
          <p:cNvPr id="7" name="Rectangle 6"/>
          <p:cNvSpPr/>
          <p:nvPr/>
        </p:nvSpPr>
        <p:spPr>
          <a:xfrm>
            <a:off x="8321812" y="6378702"/>
            <a:ext cx="3668248" cy="369332"/>
          </a:xfrm>
          <a:prstGeom prst="rect">
            <a:avLst/>
          </a:prstGeom>
        </p:spPr>
        <p:txBody>
          <a:bodyPr wrap="none">
            <a:spAutoFit/>
          </a:bodyPr>
          <a:lstStyle/>
          <a:p>
            <a:r>
              <a:rPr lang="nb-NO" dirty="0"/>
              <a:t>NICE CG141: acute upper GI bleeding</a:t>
            </a:r>
          </a:p>
        </p:txBody>
      </p:sp>
      <p:pic>
        <p:nvPicPr>
          <p:cNvPr id="9" name="Picture 8"/>
          <p:cNvPicPr>
            <a:picLocks noChangeAspect="1"/>
          </p:cNvPicPr>
          <p:nvPr/>
        </p:nvPicPr>
        <p:blipFill>
          <a:blip r:embed="rId3"/>
          <a:stretch>
            <a:fillRect/>
          </a:stretch>
        </p:blipFill>
        <p:spPr>
          <a:xfrm>
            <a:off x="9948672" y="1863651"/>
            <a:ext cx="2041387" cy="2117233"/>
          </a:xfrm>
          <a:prstGeom prst="rect">
            <a:avLst/>
          </a:prstGeom>
        </p:spPr>
      </p:pic>
    </p:spTree>
    <p:extLst>
      <p:ext uri="{BB962C8B-B14F-4D97-AF65-F5344CB8AC3E}">
        <p14:creationId xmlns:p14="http://schemas.microsoft.com/office/powerpoint/2010/main" val="876274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BFFC91-A5A6-457E-9F8D-5478B849764A}"/>
              </a:ext>
            </a:extLst>
          </p:cNvPr>
          <p:cNvSpPr>
            <a:spLocks noGrp="1"/>
          </p:cNvSpPr>
          <p:nvPr/>
        </p:nvSpPr>
        <p:spPr>
          <a:xfrm>
            <a:off x="647700" y="428625"/>
            <a:ext cx="10896600" cy="952500"/>
          </a:xfrm>
          <a:prstGeom prst="rect">
            <a:avLst/>
          </a:prstGeom>
          <a:noFill/>
          <a:ln w="0">
            <a:noFill/>
          </a:ln>
        </p:spPr>
        <p:txBody>
          <a:bodyPr>
            <a:noAutofit/>
          </a:bodyPr>
          <a:lstStyle/>
          <a:p>
            <a:pPr algn="ct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Alarm features in a stable patient</a:t>
            </a:r>
          </a:p>
        </p:txBody>
      </p:sp>
      <p:sp>
        <p:nvSpPr>
          <p:cNvPr id="2" name="Rectangle 1">
            <a:extLst>
              <a:ext uri="{FF2B5EF4-FFF2-40B4-BE49-F238E27FC236}">
                <a16:creationId xmlns:a16="http://schemas.microsoft.com/office/drawing/2014/main" id="{523BDA8C-EE37-4A90-9096-D85332023529}"/>
              </a:ext>
            </a:extLst>
          </p:cNvPr>
          <p:cNvSpPr>
            <a:spLocks noGrp="1"/>
          </p:cNvSpPr>
          <p:nvPr/>
        </p:nvSpPr>
        <p:spPr>
          <a:xfrm>
            <a:off x="723900" y="1619250"/>
            <a:ext cx="10553700" cy="414528"/>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Progressive dysphagia or painful swallowing</a:t>
            </a:r>
          </a:p>
        </p:txBody>
      </p:sp>
      <p:sp>
        <p:nvSpPr>
          <p:cNvPr id="3" name="Rectangle 2">
            <a:extLst>
              <a:ext uri="{FF2B5EF4-FFF2-40B4-BE49-F238E27FC236}">
                <a16:creationId xmlns:a16="http://schemas.microsoft.com/office/drawing/2014/main" id="{9AFFF7E6-CC21-4466-962B-EA4BD6E3C487}"/>
              </a:ext>
            </a:extLst>
          </p:cNvPr>
          <p:cNvSpPr>
            <a:spLocks noGrp="1"/>
          </p:cNvSpPr>
          <p:nvPr/>
        </p:nvSpPr>
        <p:spPr>
          <a:xfrm>
            <a:off x="723900" y="2125980"/>
            <a:ext cx="10553700" cy="414528"/>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Unexplained GI bleeding or iron-deficiency anemia</a:t>
            </a:r>
          </a:p>
        </p:txBody>
      </p:sp>
      <p:sp>
        <p:nvSpPr>
          <p:cNvPr id="4" name="Rectangle 3">
            <a:extLst>
              <a:ext uri="{FF2B5EF4-FFF2-40B4-BE49-F238E27FC236}">
                <a16:creationId xmlns:a16="http://schemas.microsoft.com/office/drawing/2014/main" id="{30651574-DE81-4992-965F-81A37A713F21}"/>
              </a:ext>
            </a:extLst>
          </p:cNvPr>
          <p:cNvSpPr>
            <a:spLocks noGrp="1"/>
          </p:cNvSpPr>
          <p:nvPr/>
        </p:nvSpPr>
        <p:spPr>
          <a:xfrm>
            <a:off x="723900" y="2632710"/>
            <a:ext cx="10553700" cy="518541"/>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Unintentional weight loss, palpable mass or persistent vomiting</a:t>
            </a:r>
          </a:p>
        </p:txBody>
      </p:sp>
      <p:sp>
        <p:nvSpPr>
          <p:cNvPr id="5" name="Rectangle 4">
            <a:extLst>
              <a:ext uri="{FF2B5EF4-FFF2-40B4-BE49-F238E27FC236}">
                <a16:creationId xmlns:a16="http://schemas.microsoft.com/office/drawing/2014/main" id="{C536A8C6-08AE-4E19-9979-FDB092D080D2}"/>
              </a:ext>
            </a:extLst>
          </p:cNvPr>
          <p:cNvSpPr>
            <a:spLocks noGrp="1"/>
          </p:cNvSpPr>
          <p:nvPr/>
        </p:nvSpPr>
        <p:spPr>
          <a:xfrm>
            <a:off x="723900" y="3151251"/>
            <a:ext cx="10553700" cy="519684"/>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Persistent nocturnal diarrhea or inflammatory features</a:t>
            </a:r>
          </a:p>
        </p:txBody>
      </p:sp>
      <p:sp>
        <p:nvSpPr>
          <p:cNvPr id="6" name="Rectangle 5">
            <a:extLst>
              <a:ext uri="{FF2B5EF4-FFF2-40B4-BE49-F238E27FC236}">
                <a16:creationId xmlns:a16="http://schemas.microsoft.com/office/drawing/2014/main" id="{E5E1FFAD-9488-4A66-94B8-9EB60C8B7B60}"/>
              </a:ext>
            </a:extLst>
          </p:cNvPr>
          <p:cNvSpPr>
            <a:spLocks noGrp="1"/>
          </p:cNvSpPr>
          <p:nvPr/>
        </p:nvSpPr>
        <p:spPr>
          <a:xfrm>
            <a:off x="723900" y="3709416"/>
            <a:ext cx="10553700" cy="566166"/>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New symptoms with substantial age-related or family cancer risk</a:t>
            </a:r>
          </a:p>
        </p:txBody>
      </p:sp>
      <p:sp>
        <p:nvSpPr>
          <p:cNvPr id="7" name="Rectangle 6">
            <a:extLst>
              <a:ext uri="{FF2B5EF4-FFF2-40B4-BE49-F238E27FC236}">
                <a16:creationId xmlns:a16="http://schemas.microsoft.com/office/drawing/2014/main" id="{B7E9F45B-2A2F-461F-AF87-D93245750838}"/>
              </a:ext>
            </a:extLst>
          </p:cNvPr>
          <p:cNvSpPr>
            <a:spLocks noGrp="1"/>
          </p:cNvSpPr>
          <p:nvPr/>
        </p:nvSpPr>
        <p:spPr>
          <a:xfrm>
            <a:off x="647700" y="4714113"/>
            <a:ext cx="10477500" cy="369951"/>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An alarm feature changes the pathway. Its urgency depends on the symptom and clinical context.</a:t>
            </a:r>
          </a:p>
        </p:txBody>
      </p:sp>
      <p:sp>
        <p:nvSpPr>
          <p:cNvPr id="8" name="Rectangle 7"/>
          <p:cNvSpPr/>
          <p:nvPr/>
        </p:nvSpPr>
        <p:spPr>
          <a:xfrm>
            <a:off x="8128224" y="6299573"/>
            <a:ext cx="3689664" cy="369332"/>
          </a:xfrm>
          <a:prstGeom prst="rect">
            <a:avLst/>
          </a:prstGeom>
        </p:spPr>
        <p:txBody>
          <a:bodyPr wrap="none">
            <a:spAutoFit/>
          </a:bodyPr>
          <a:lstStyle/>
          <a:p>
            <a:r>
              <a:rPr lang="en-US" dirty="0"/>
              <a:t>NICE NG12: suspected cancer referral</a:t>
            </a:r>
          </a:p>
        </p:txBody>
      </p:sp>
      <p:sp>
        <p:nvSpPr>
          <p:cNvPr id="10" name="Rectangle 9"/>
          <p:cNvSpPr/>
          <p:nvPr/>
        </p:nvSpPr>
        <p:spPr>
          <a:xfrm>
            <a:off x="8128224" y="5873496"/>
            <a:ext cx="3630481" cy="369332"/>
          </a:xfrm>
          <a:prstGeom prst="rect">
            <a:avLst/>
          </a:prstGeom>
        </p:spPr>
        <p:txBody>
          <a:bodyPr wrap="none">
            <a:spAutoFit/>
          </a:bodyPr>
          <a:lstStyle/>
          <a:p>
            <a:r>
              <a:rPr lang="en-US" dirty="0"/>
              <a:t>ACG/CAG dyspepsia guideline (2017)</a:t>
            </a:r>
          </a:p>
        </p:txBody>
      </p:sp>
      <p:pic>
        <p:nvPicPr>
          <p:cNvPr id="11" name="Picture 10"/>
          <p:cNvPicPr>
            <a:picLocks noChangeAspect="1"/>
          </p:cNvPicPr>
          <p:nvPr/>
        </p:nvPicPr>
        <p:blipFill>
          <a:blip r:embed="rId3"/>
          <a:stretch>
            <a:fillRect/>
          </a:stretch>
        </p:blipFill>
        <p:spPr>
          <a:xfrm>
            <a:off x="9677652" y="1635361"/>
            <a:ext cx="1964184" cy="1961279"/>
          </a:xfrm>
          <a:prstGeom prst="rect">
            <a:avLst/>
          </a:prstGeom>
        </p:spPr>
      </p:pic>
    </p:spTree>
    <p:extLst>
      <p:ext uri="{BB962C8B-B14F-4D97-AF65-F5344CB8AC3E}">
        <p14:creationId xmlns:p14="http://schemas.microsoft.com/office/powerpoint/2010/main" val="302957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199" y="63440"/>
            <a:ext cx="12072801" cy="6794560"/>
          </a:xfrm>
          <a:prstGeom prst="rect">
            <a:avLst/>
          </a:prstGeom>
        </p:spPr>
      </p:pic>
    </p:spTree>
    <p:extLst>
      <p:ext uri="{BB962C8B-B14F-4D97-AF65-F5344CB8AC3E}">
        <p14:creationId xmlns:p14="http://schemas.microsoft.com/office/powerpoint/2010/main" val="3668325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A375B8-E2DA-465B-98CB-E4D9F5A78EE3}"/>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dirty="0">
                <a:solidFill>
                  <a:srgbClr val="FFFFFF"/>
                </a:solidFill>
                <a:latin typeface="Bitstream Charter"/>
                <a:ea typeface="Bitstream Charter"/>
                <a:cs typeface="Bitstream Charter"/>
              </a:rPr>
              <a:t>When to treat</a:t>
            </a:r>
          </a:p>
        </p:txBody>
      </p:sp>
      <p:sp>
        <p:nvSpPr>
          <p:cNvPr id="3" name="Rectangle 2">
            <a:extLst>
              <a:ext uri="{FF2B5EF4-FFF2-40B4-BE49-F238E27FC236}">
                <a16:creationId xmlns:a16="http://schemas.microsoft.com/office/drawing/2014/main" id="{622EA31C-FBAE-48ED-A90C-60D0AB90BDD2}"/>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Can this patient start treatment in primary care?</a:t>
            </a:r>
          </a:p>
        </p:txBody>
      </p:sp>
      <p:sp>
        <p:nvSpPr>
          <p:cNvPr id="4" name="Rectangle 3">
            <a:extLst>
              <a:ext uri="{FF2B5EF4-FFF2-40B4-BE49-F238E27FC236}">
                <a16:creationId xmlns:a16="http://schemas.microsoft.com/office/drawing/2014/main" id="{5DE8C4E4-782A-4F1D-9D29-7772691536EF}"/>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Case 1: reflux presentation, treatment and review</a:t>
            </a:r>
          </a:p>
        </p:txBody>
      </p:sp>
    </p:spTree>
    <p:extLst>
      <p:ext uri="{BB962C8B-B14F-4D97-AF65-F5344CB8AC3E}">
        <p14:creationId xmlns:p14="http://schemas.microsoft.com/office/powerpoint/2010/main" val="1729121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A425215-021A-4451-A945-80CD31A73EB8}"/>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1: heartburn after meals</a:t>
            </a:r>
          </a:p>
        </p:txBody>
      </p:sp>
      <p:sp>
        <p:nvSpPr>
          <p:cNvPr id="2" name="Rectangle 1">
            <a:extLst>
              <a:ext uri="{FF2B5EF4-FFF2-40B4-BE49-F238E27FC236}">
                <a16:creationId xmlns:a16="http://schemas.microsoft.com/office/drawing/2014/main" id="{FECC90C9-11E7-437E-89F1-C6E58935EF98}"/>
              </a:ext>
            </a:extLst>
          </p:cNvPr>
          <p:cNvSpPr>
            <a:spLocks noGrp="1"/>
          </p:cNvSpPr>
          <p:nvPr/>
        </p:nvSpPr>
        <p:spPr>
          <a:xfrm>
            <a:off x="666750" y="1323975"/>
            <a:ext cx="10668000" cy="428625"/>
          </a:xfrm>
          <a:prstGeom prst="rect">
            <a:avLst/>
          </a:prstGeom>
          <a:noFill/>
          <a:ln w="0">
            <a:noFill/>
          </a:ln>
        </p:spPr>
        <p:txBody>
          <a:bodyPr>
            <a:noAutofit/>
          </a:bodyPr>
          <a:lstStyle/>
          <a:p>
            <a:pPr>
              <a:buNone/>
              <a:defRPr sz="1950" b="0">
                <a:solidFill>
                  <a:srgbClr val="53717B"/>
                </a:solidFill>
                <a:latin typeface="Bitstream Charter"/>
                <a:ea typeface="Bitstream Charter"/>
                <a:cs typeface="Bitstream Charter"/>
              </a:defRPr>
            </a:pPr>
            <a:r>
              <a:rPr sz="1950" b="0">
                <a:solidFill>
                  <a:srgbClr val="53717B"/>
                </a:solidFill>
                <a:latin typeface="Bitstream Charter"/>
                <a:ea typeface="Bitstream Charter"/>
                <a:cs typeface="Bitstream Charter"/>
              </a:rPr>
              <a:t>What is the most appropriate next step?</a:t>
            </a:r>
          </a:p>
        </p:txBody>
      </p:sp>
      <p:sp>
        <p:nvSpPr>
          <p:cNvPr id="3" name="Rectangle 2">
            <a:extLst>
              <a:ext uri="{FF2B5EF4-FFF2-40B4-BE49-F238E27FC236}">
                <a16:creationId xmlns:a16="http://schemas.microsoft.com/office/drawing/2014/main" id="{2F267097-4D1A-4CB7-AB17-D55F56A15942}"/>
              </a:ext>
            </a:extLst>
          </p:cNvPr>
          <p:cNvSpPr>
            <a:spLocks noGrp="1"/>
          </p:cNvSpPr>
          <p:nvPr/>
        </p:nvSpPr>
        <p:spPr>
          <a:xfrm>
            <a:off x="723900" y="19050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A 34-year-old has 6 weeks of heartburn and acid regurgitation, worse after late meals.</a:t>
            </a:r>
          </a:p>
        </p:txBody>
      </p:sp>
      <p:sp>
        <p:nvSpPr>
          <p:cNvPr id="4" name="Rectangle 3">
            <a:extLst>
              <a:ext uri="{FF2B5EF4-FFF2-40B4-BE49-F238E27FC236}">
                <a16:creationId xmlns:a16="http://schemas.microsoft.com/office/drawing/2014/main" id="{513F171B-4D2A-41DF-A2D3-A2C14FC8800C}"/>
              </a:ext>
            </a:extLst>
          </p:cNvPr>
          <p:cNvSpPr>
            <a:spLocks noGrp="1"/>
          </p:cNvSpPr>
          <p:nvPr/>
        </p:nvSpPr>
        <p:spPr>
          <a:xfrm>
            <a:off x="723900" y="291465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No dysphagia, weight loss, vomiting, bleeding or exertional chest pain.</a:t>
            </a:r>
          </a:p>
        </p:txBody>
      </p:sp>
      <p:sp>
        <p:nvSpPr>
          <p:cNvPr id="5" name="Rectangle 4">
            <a:extLst>
              <a:ext uri="{FF2B5EF4-FFF2-40B4-BE49-F238E27FC236}">
                <a16:creationId xmlns:a16="http://schemas.microsoft.com/office/drawing/2014/main" id="{1A5EC13E-6FF7-4F81-BA98-DCC4DA97B807}"/>
              </a:ext>
            </a:extLst>
          </p:cNvPr>
          <p:cNvSpPr>
            <a:spLocks noGrp="1"/>
          </p:cNvSpPr>
          <p:nvPr/>
        </p:nvSpPr>
        <p:spPr>
          <a:xfrm>
            <a:off x="723900" y="39243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Examination is normal. No major Barrett’s esophagus risk profile.</a:t>
            </a:r>
          </a:p>
        </p:txBody>
      </p:sp>
      <p:sp>
        <p:nvSpPr>
          <p:cNvPr id="6" name="Rectangle 5">
            <a:extLst>
              <a:ext uri="{FF2B5EF4-FFF2-40B4-BE49-F238E27FC236}">
                <a16:creationId xmlns:a16="http://schemas.microsoft.com/office/drawing/2014/main" id="{3FBC495D-C3BE-418F-B4E8-44A0664E23AC}"/>
              </a:ext>
            </a:extLst>
          </p:cNvPr>
          <p:cNvSpPr>
            <a:spLocks noGrp="1"/>
          </p:cNvSpPr>
          <p:nvPr/>
        </p:nvSpPr>
        <p:spPr>
          <a:xfrm>
            <a:off x="647700" y="5043297"/>
            <a:ext cx="10477500" cy="619125"/>
          </a:xfrm>
          <a:prstGeom prst="rect">
            <a:avLst/>
          </a:prstGeom>
          <a:noFill/>
          <a:ln w="0">
            <a:noFill/>
          </a:ln>
        </p:spPr>
        <p:txBody>
          <a:bodyPr>
            <a:noAutofit/>
          </a:bodyPr>
          <a:lstStyle/>
          <a:p>
            <a:pPr>
              <a:buNone/>
              <a:defRPr sz="1725" b="1">
                <a:solidFill>
                  <a:srgbClr val="087D70"/>
                </a:solidFill>
                <a:latin typeface="Bitstream Charter"/>
                <a:ea typeface="Bitstream Charter"/>
                <a:cs typeface="Bitstream Charter"/>
              </a:defRPr>
            </a:pPr>
            <a:r>
              <a:rPr sz="1725" b="1" dirty="0">
                <a:solidFill>
                  <a:srgbClr val="087D70"/>
                </a:solidFill>
                <a:latin typeface="Bitstream Charter"/>
                <a:ea typeface="Bitstream Charter"/>
                <a:cs typeface="Bitstream Charter"/>
              </a:rPr>
              <a:t>Treat now, order endoscopy, or refer?</a:t>
            </a:r>
          </a:p>
        </p:txBody>
      </p:sp>
      <p:sp>
        <p:nvSpPr>
          <p:cNvPr id="7" name="Rectangle 6"/>
          <p:cNvSpPr/>
          <p:nvPr/>
        </p:nvSpPr>
        <p:spPr>
          <a:xfrm>
            <a:off x="9114648" y="6335006"/>
            <a:ext cx="2740943" cy="369332"/>
          </a:xfrm>
          <a:prstGeom prst="rect">
            <a:avLst/>
          </a:prstGeom>
        </p:spPr>
        <p:txBody>
          <a:bodyPr wrap="none">
            <a:spAutoFit/>
          </a:bodyPr>
          <a:lstStyle/>
          <a:p>
            <a:r>
              <a:rPr lang="en-US" dirty="0"/>
              <a:t>ACG GERD guideline (2022)</a:t>
            </a:r>
          </a:p>
        </p:txBody>
      </p:sp>
      <p:pic>
        <p:nvPicPr>
          <p:cNvPr id="9" name="Picture 8"/>
          <p:cNvPicPr>
            <a:picLocks noChangeAspect="1"/>
          </p:cNvPicPr>
          <p:nvPr/>
        </p:nvPicPr>
        <p:blipFill>
          <a:blip r:embed="rId3"/>
          <a:stretch>
            <a:fillRect/>
          </a:stretch>
        </p:blipFill>
        <p:spPr>
          <a:xfrm>
            <a:off x="10521696" y="99973"/>
            <a:ext cx="1543051" cy="1555168"/>
          </a:xfrm>
          <a:prstGeom prst="rect">
            <a:avLst/>
          </a:prstGeom>
        </p:spPr>
      </p:pic>
    </p:spTree>
    <p:extLst>
      <p:ext uri="{BB962C8B-B14F-4D97-AF65-F5344CB8AC3E}">
        <p14:creationId xmlns:p14="http://schemas.microsoft.com/office/powerpoint/2010/main" val="102722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32D474F-5A09-4FD2-BECB-97C12C8D7694}"/>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1: treatment in primary care</a:t>
            </a:r>
          </a:p>
        </p:txBody>
      </p:sp>
      <p:sp>
        <p:nvSpPr>
          <p:cNvPr id="2" name="Rectangle 1">
            <a:extLst>
              <a:ext uri="{FF2B5EF4-FFF2-40B4-BE49-F238E27FC236}">
                <a16:creationId xmlns:a16="http://schemas.microsoft.com/office/drawing/2014/main" id="{2014B10B-0760-4629-AEAC-50CAFDC044BA}"/>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Treatment</a:t>
            </a:r>
          </a:p>
        </p:txBody>
      </p:sp>
      <p:sp>
        <p:nvSpPr>
          <p:cNvPr id="3" name="Rectangle 2">
            <a:extLst>
              <a:ext uri="{FF2B5EF4-FFF2-40B4-BE49-F238E27FC236}">
                <a16:creationId xmlns:a16="http://schemas.microsoft.com/office/drawing/2014/main" id="{79E5BEC4-E494-4666-92D2-EFF8CA9C91AF}"/>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A standard-dose PPI once daily, 30–60 minutes before breakfast, for 8 weeks.</a:t>
            </a:r>
          </a:p>
        </p:txBody>
      </p:sp>
      <p:sp>
        <p:nvSpPr>
          <p:cNvPr id="4" name="Rectangle 3">
            <a:extLst>
              <a:ext uri="{FF2B5EF4-FFF2-40B4-BE49-F238E27FC236}">
                <a16:creationId xmlns:a16="http://schemas.microsoft.com/office/drawing/2014/main" id="{A76587F8-740F-42A7-9BC9-F1C5E30A3572}"/>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Lifestyle</a:t>
            </a:r>
          </a:p>
        </p:txBody>
      </p:sp>
      <p:sp>
        <p:nvSpPr>
          <p:cNvPr id="5" name="Rectangle 4">
            <a:extLst>
              <a:ext uri="{FF2B5EF4-FFF2-40B4-BE49-F238E27FC236}">
                <a16:creationId xmlns:a16="http://schemas.microsoft.com/office/drawing/2014/main" id="{DD83C2E3-5F46-4E81-BC1E-0B997E1E74A9}"/>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Avoid meals within 2–3 hours of bedtime. Address weight if appropriate and individual triggers.</a:t>
            </a:r>
          </a:p>
        </p:txBody>
      </p:sp>
      <p:sp>
        <p:nvSpPr>
          <p:cNvPr id="6" name="Rectangle 5">
            <a:extLst>
              <a:ext uri="{FF2B5EF4-FFF2-40B4-BE49-F238E27FC236}">
                <a16:creationId xmlns:a16="http://schemas.microsoft.com/office/drawing/2014/main" id="{16A11362-EF31-44F7-BE3A-1AACA1E7A2D8}"/>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Review</a:t>
            </a:r>
          </a:p>
        </p:txBody>
      </p:sp>
      <p:sp>
        <p:nvSpPr>
          <p:cNvPr id="7" name="Rectangle 6">
            <a:extLst>
              <a:ext uri="{FF2B5EF4-FFF2-40B4-BE49-F238E27FC236}">
                <a16:creationId xmlns:a16="http://schemas.microsoft.com/office/drawing/2014/main" id="{73DDC776-6D94-44BB-B944-25F244BA2ACA}"/>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Assess adherence and response. If controlled, attempt withdrawal or step down when appropriate.</a:t>
            </a:r>
          </a:p>
        </p:txBody>
      </p:sp>
      <p:sp>
        <p:nvSpPr>
          <p:cNvPr id="8" name="Rectangle 7">
            <a:extLst>
              <a:ext uri="{FF2B5EF4-FFF2-40B4-BE49-F238E27FC236}">
                <a16:creationId xmlns:a16="http://schemas.microsoft.com/office/drawing/2014/main" id="{9EDCE420-1E08-495E-A3DD-003FACAF0F3E}"/>
              </a:ext>
            </a:extLst>
          </p:cNvPr>
          <p:cNvSpPr>
            <a:spLocks noGrp="1"/>
          </p:cNvSpPr>
          <p:nvPr/>
        </p:nvSpPr>
        <p:spPr>
          <a:xfrm>
            <a:off x="666750" y="5762625"/>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a:solidFill>
                  <a:srgbClr val="53717B"/>
                </a:solidFill>
                <a:latin typeface="Bitstream Charter"/>
                <a:ea typeface="Bitstream Charter"/>
                <a:cs typeface="Bitstream Charter"/>
              </a:rPr>
              <a:t>New dysphagia or bleeding changes the plan immediately.</a:t>
            </a:r>
          </a:p>
        </p:txBody>
      </p:sp>
      <p:sp>
        <p:nvSpPr>
          <p:cNvPr id="9" name="Rectangle 8"/>
          <p:cNvSpPr/>
          <p:nvPr/>
        </p:nvSpPr>
        <p:spPr>
          <a:xfrm>
            <a:off x="9297528" y="6381750"/>
            <a:ext cx="2740943" cy="369332"/>
          </a:xfrm>
          <a:prstGeom prst="rect">
            <a:avLst/>
          </a:prstGeom>
        </p:spPr>
        <p:txBody>
          <a:bodyPr wrap="none">
            <a:spAutoFit/>
          </a:bodyPr>
          <a:lstStyle/>
          <a:p>
            <a:r>
              <a:rPr lang="en-US" dirty="0"/>
              <a:t>ACG GERD guideline (2022)</a:t>
            </a:r>
          </a:p>
        </p:txBody>
      </p:sp>
    </p:spTree>
    <p:extLst>
      <p:ext uri="{BB962C8B-B14F-4D97-AF65-F5344CB8AC3E}">
        <p14:creationId xmlns:p14="http://schemas.microsoft.com/office/powerpoint/2010/main" val="1999917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DB85587-515B-4EC3-970F-E07255DF5247}"/>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Other presentations suitable for initial treatment</a:t>
            </a:r>
          </a:p>
        </p:txBody>
      </p:sp>
      <p:sp>
        <p:nvSpPr>
          <p:cNvPr id="2" name="Rectangle 1">
            <a:extLst>
              <a:ext uri="{FF2B5EF4-FFF2-40B4-BE49-F238E27FC236}">
                <a16:creationId xmlns:a16="http://schemas.microsoft.com/office/drawing/2014/main" id="{CE56349C-B570-466D-8ED5-CCE437886F86}"/>
              </a:ext>
            </a:extLst>
          </p:cNvPr>
          <p:cNvSpPr>
            <a:spLocks noGrp="1"/>
          </p:cNvSpPr>
          <p:nvPr/>
        </p:nvSpPr>
        <p:spPr>
          <a:xfrm>
            <a:off x="647700" y="1204912"/>
            <a:ext cx="2714625" cy="85921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Constipation without alarms</a:t>
            </a:r>
          </a:p>
        </p:txBody>
      </p:sp>
      <p:sp>
        <p:nvSpPr>
          <p:cNvPr id="3" name="Rectangle 2">
            <a:extLst>
              <a:ext uri="{FF2B5EF4-FFF2-40B4-BE49-F238E27FC236}">
                <a16:creationId xmlns:a16="http://schemas.microsoft.com/office/drawing/2014/main" id="{18FC73DA-193D-4612-8F96-B8457F071847}"/>
              </a:ext>
            </a:extLst>
          </p:cNvPr>
          <p:cNvSpPr>
            <a:spLocks noGrp="1"/>
          </p:cNvSpPr>
          <p:nvPr/>
        </p:nvSpPr>
        <p:spPr>
          <a:xfrm>
            <a:off x="3505200" y="1204912"/>
            <a:ext cx="7810500" cy="916496"/>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Review causes, offer gradual soluble fiber and adequate fluids. Polyethylene glycol is an evidence-based option.</a:t>
            </a:r>
          </a:p>
        </p:txBody>
      </p:sp>
      <p:sp>
        <p:nvSpPr>
          <p:cNvPr id="4" name="Rectangle 3">
            <a:extLst>
              <a:ext uri="{FF2B5EF4-FFF2-40B4-BE49-F238E27FC236}">
                <a16:creationId xmlns:a16="http://schemas.microsoft.com/office/drawing/2014/main" id="{057295DE-DD79-4AAE-AEAF-2681DB163D1E}"/>
              </a:ext>
            </a:extLst>
          </p:cNvPr>
          <p:cNvSpPr>
            <a:spLocks noGrp="1"/>
          </p:cNvSpPr>
          <p:nvPr/>
        </p:nvSpPr>
        <p:spPr>
          <a:xfrm>
            <a:off x="647700" y="2482149"/>
            <a:ext cx="2714625" cy="87338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Established IBS without alarms</a:t>
            </a:r>
          </a:p>
        </p:txBody>
      </p:sp>
      <p:sp>
        <p:nvSpPr>
          <p:cNvPr id="5" name="Rectangle 4">
            <a:extLst>
              <a:ext uri="{FF2B5EF4-FFF2-40B4-BE49-F238E27FC236}">
                <a16:creationId xmlns:a16="http://schemas.microsoft.com/office/drawing/2014/main" id="{52CF8E35-B269-4FD0-A285-739D61842A0B}"/>
              </a:ext>
            </a:extLst>
          </p:cNvPr>
          <p:cNvSpPr>
            <a:spLocks noGrp="1"/>
          </p:cNvSpPr>
          <p:nvPr/>
        </p:nvSpPr>
        <p:spPr>
          <a:xfrm>
            <a:off x="3505200" y="2482149"/>
            <a:ext cx="7810500" cy="931611"/>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Explain the diagnosis. Match diet and symptom treatment to the bowel pattern.</a:t>
            </a:r>
          </a:p>
        </p:txBody>
      </p:sp>
      <p:sp>
        <p:nvSpPr>
          <p:cNvPr id="6" name="Rectangle 5">
            <a:extLst>
              <a:ext uri="{FF2B5EF4-FFF2-40B4-BE49-F238E27FC236}">
                <a16:creationId xmlns:a16="http://schemas.microsoft.com/office/drawing/2014/main" id="{992F6CF6-2C80-4463-8B6E-7B4F15CF86D8}"/>
              </a:ext>
            </a:extLst>
          </p:cNvPr>
          <p:cNvSpPr>
            <a:spLocks noGrp="1"/>
          </p:cNvSpPr>
          <p:nvPr/>
        </p:nvSpPr>
        <p:spPr>
          <a:xfrm>
            <a:off x="647700" y="3920425"/>
            <a:ext cx="2714625" cy="895888"/>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A clear follow-up plan</a:t>
            </a:r>
          </a:p>
        </p:txBody>
      </p:sp>
      <p:sp>
        <p:nvSpPr>
          <p:cNvPr id="7" name="Rectangle 6">
            <a:extLst>
              <a:ext uri="{FF2B5EF4-FFF2-40B4-BE49-F238E27FC236}">
                <a16:creationId xmlns:a16="http://schemas.microsoft.com/office/drawing/2014/main" id="{0AC5B305-D9B9-4E85-A3D8-6C243548E59D}"/>
              </a:ext>
            </a:extLst>
          </p:cNvPr>
          <p:cNvSpPr>
            <a:spLocks noGrp="1"/>
          </p:cNvSpPr>
          <p:nvPr/>
        </p:nvSpPr>
        <p:spPr>
          <a:xfrm>
            <a:off x="3505200" y="3920424"/>
            <a:ext cx="7810500" cy="955614"/>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Record the target symptom, review date and reason to escalate.</a:t>
            </a:r>
          </a:p>
        </p:txBody>
      </p:sp>
      <p:sp>
        <p:nvSpPr>
          <p:cNvPr id="8" name="Rectangle 7">
            <a:extLst>
              <a:ext uri="{FF2B5EF4-FFF2-40B4-BE49-F238E27FC236}">
                <a16:creationId xmlns:a16="http://schemas.microsoft.com/office/drawing/2014/main" id="{94227A24-782C-4D01-9CC0-BBC2ED95E7CB}"/>
              </a:ext>
            </a:extLst>
          </p:cNvPr>
          <p:cNvSpPr>
            <a:spLocks noGrp="1"/>
          </p:cNvSpPr>
          <p:nvPr/>
        </p:nvSpPr>
        <p:spPr>
          <a:xfrm>
            <a:off x="647700" y="4884801"/>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An empiric treatment trial needs a stop point and reassessment.</a:t>
            </a:r>
          </a:p>
        </p:txBody>
      </p:sp>
      <p:sp>
        <p:nvSpPr>
          <p:cNvPr id="9" name="Rectangle 8"/>
          <p:cNvSpPr/>
          <p:nvPr/>
        </p:nvSpPr>
        <p:spPr>
          <a:xfrm>
            <a:off x="7898568" y="5545836"/>
            <a:ext cx="3867597" cy="369332"/>
          </a:xfrm>
          <a:prstGeom prst="rect">
            <a:avLst/>
          </a:prstGeom>
        </p:spPr>
        <p:txBody>
          <a:bodyPr wrap="none">
            <a:spAutoFit/>
          </a:bodyPr>
          <a:lstStyle/>
          <a:p>
            <a:r>
              <a:rPr lang="en-US" dirty="0"/>
              <a:t>AGA/ACG constipation guideline (2023)</a:t>
            </a:r>
          </a:p>
        </p:txBody>
      </p:sp>
      <p:sp>
        <p:nvSpPr>
          <p:cNvPr id="11" name="Rectangle 10"/>
          <p:cNvSpPr/>
          <p:nvPr/>
        </p:nvSpPr>
        <p:spPr>
          <a:xfrm>
            <a:off x="7898568" y="5997659"/>
            <a:ext cx="4166782" cy="369332"/>
          </a:xfrm>
          <a:prstGeom prst="rect">
            <a:avLst/>
          </a:prstGeom>
        </p:spPr>
        <p:txBody>
          <a:bodyPr wrap="none">
            <a:spAutoFit/>
          </a:bodyPr>
          <a:lstStyle/>
          <a:p>
            <a:r>
              <a:rPr lang="en-US" dirty="0"/>
              <a:t>AGA refractory constipation update (2026)</a:t>
            </a:r>
          </a:p>
        </p:txBody>
      </p:sp>
      <p:sp>
        <p:nvSpPr>
          <p:cNvPr id="12" name="Rectangle 11"/>
          <p:cNvSpPr/>
          <p:nvPr/>
        </p:nvSpPr>
        <p:spPr>
          <a:xfrm>
            <a:off x="7898568" y="6447208"/>
            <a:ext cx="2439642" cy="369332"/>
          </a:xfrm>
          <a:prstGeom prst="rect">
            <a:avLst/>
          </a:prstGeom>
        </p:spPr>
        <p:txBody>
          <a:bodyPr wrap="none">
            <a:spAutoFit/>
          </a:bodyPr>
          <a:lstStyle/>
          <a:p>
            <a:r>
              <a:rPr lang="en-US" dirty="0"/>
              <a:t>NICE CG61: IBS in adults</a:t>
            </a:r>
          </a:p>
        </p:txBody>
      </p:sp>
    </p:spTree>
    <p:extLst>
      <p:ext uri="{BB962C8B-B14F-4D97-AF65-F5344CB8AC3E}">
        <p14:creationId xmlns:p14="http://schemas.microsoft.com/office/powerpoint/2010/main" val="1284109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158" y="109728"/>
            <a:ext cx="11908345" cy="6702004"/>
          </a:xfrm>
          <a:prstGeom prst="rect">
            <a:avLst/>
          </a:prstGeom>
        </p:spPr>
      </p:pic>
    </p:spTree>
    <p:extLst>
      <p:ext uri="{BB962C8B-B14F-4D97-AF65-F5344CB8AC3E}">
        <p14:creationId xmlns:p14="http://schemas.microsoft.com/office/powerpoint/2010/main" val="2298072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EB463E-3758-42FF-A92C-4DCAB9CA807F}"/>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dirty="0">
                <a:solidFill>
                  <a:srgbClr val="FFFFFF"/>
                </a:solidFill>
                <a:latin typeface="Bitstream Charter"/>
                <a:ea typeface="Bitstream Charter"/>
                <a:cs typeface="Bitstream Charter"/>
              </a:rPr>
              <a:t>When to investigate</a:t>
            </a:r>
          </a:p>
        </p:txBody>
      </p:sp>
      <p:sp>
        <p:nvSpPr>
          <p:cNvPr id="3" name="Rectangle 2">
            <a:extLst>
              <a:ext uri="{FF2B5EF4-FFF2-40B4-BE49-F238E27FC236}">
                <a16:creationId xmlns:a16="http://schemas.microsoft.com/office/drawing/2014/main" id="{66CCF9E9-B64E-4454-8C8B-B84338B9B487}"/>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Which tests will clarify the cause and change management?</a:t>
            </a:r>
          </a:p>
        </p:txBody>
      </p:sp>
      <p:sp>
        <p:nvSpPr>
          <p:cNvPr id="4" name="Rectangle 3">
            <a:extLst>
              <a:ext uri="{FF2B5EF4-FFF2-40B4-BE49-F238E27FC236}">
                <a16:creationId xmlns:a16="http://schemas.microsoft.com/office/drawing/2014/main" id="{F436443F-108F-46BC-A13E-F82379DA1736}"/>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Case 2: diarrhea presentation, tests and next steps</a:t>
            </a:r>
          </a:p>
        </p:txBody>
      </p:sp>
    </p:spTree>
    <p:extLst>
      <p:ext uri="{BB962C8B-B14F-4D97-AF65-F5344CB8AC3E}">
        <p14:creationId xmlns:p14="http://schemas.microsoft.com/office/powerpoint/2010/main" val="202117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269D45-ABC7-4570-96E8-30D9E530A5F2}"/>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Investigation should answer a clinical question</a:t>
            </a:r>
          </a:p>
        </p:txBody>
      </p:sp>
      <p:sp>
        <p:nvSpPr>
          <p:cNvPr id="2" name="Rectangle 1">
            <a:extLst>
              <a:ext uri="{FF2B5EF4-FFF2-40B4-BE49-F238E27FC236}">
                <a16:creationId xmlns:a16="http://schemas.microsoft.com/office/drawing/2014/main" id="{57117CA1-2DE6-4493-B3A1-824C9E423040}"/>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Epigastric pain</a:t>
            </a:r>
          </a:p>
        </p:txBody>
      </p:sp>
      <p:sp>
        <p:nvSpPr>
          <p:cNvPr id="3" name="Rectangle 2">
            <a:extLst>
              <a:ext uri="{FF2B5EF4-FFF2-40B4-BE49-F238E27FC236}">
                <a16:creationId xmlns:a16="http://schemas.microsoft.com/office/drawing/2014/main" id="{0841EE9A-99B7-4E8F-A8DF-09B192652261}"/>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Could this be H. pylori-associated dyspepsia or an indication for endoscopy?</a:t>
            </a:r>
          </a:p>
        </p:txBody>
      </p:sp>
      <p:sp>
        <p:nvSpPr>
          <p:cNvPr id="4" name="Rectangle 3">
            <a:extLst>
              <a:ext uri="{FF2B5EF4-FFF2-40B4-BE49-F238E27FC236}">
                <a16:creationId xmlns:a16="http://schemas.microsoft.com/office/drawing/2014/main" id="{B022EAF0-9B5C-4AD6-A5BB-4E6444BDC367}"/>
              </a:ext>
            </a:extLst>
          </p:cNvPr>
          <p:cNvSpPr>
            <a:spLocks noGrp="1"/>
          </p:cNvSpPr>
          <p:nvPr/>
        </p:nvSpPr>
        <p:spPr>
          <a:xfrm>
            <a:off x="666750" y="2490787"/>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Persistent diarrhea</a:t>
            </a:r>
          </a:p>
        </p:txBody>
      </p:sp>
      <p:sp>
        <p:nvSpPr>
          <p:cNvPr id="5" name="Rectangle 4">
            <a:extLst>
              <a:ext uri="{FF2B5EF4-FFF2-40B4-BE49-F238E27FC236}">
                <a16:creationId xmlns:a16="http://schemas.microsoft.com/office/drawing/2014/main" id="{C3A3605E-4D19-4050-AF2A-06C2840C2689}"/>
              </a:ext>
            </a:extLst>
          </p:cNvPr>
          <p:cNvSpPr>
            <a:spLocks noGrp="1"/>
          </p:cNvSpPr>
          <p:nvPr/>
        </p:nvSpPr>
        <p:spPr>
          <a:xfrm>
            <a:off x="3524250" y="2490787"/>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Is there inflammation, celiac disease, infection or another treatable cause?</a:t>
            </a:r>
          </a:p>
        </p:txBody>
      </p:sp>
      <p:sp>
        <p:nvSpPr>
          <p:cNvPr id="6" name="Rectangle 5">
            <a:extLst>
              <a:ext uri="{FF2B5EF4-FFF2-40B4-BE49-F238E27FC236}">
                <a16:creationId xmlns:a16="http://schemas.microsoft.com/office/drawing/2014/main" id="{92B72474-9D6B-496B-8427-05A6858D4ADE}"/>
              </a:ext>
            </a:extLst>
          </p:cNvPr>
          <p:cNvSpPr>
            <a:spLocks noGrp="1"/>
          </p:cNvSpPr>
          <p:nvPr/>
        </p:nvSpPr>
        <p:spPr>
          <a:xfrm>
            <a:off x="666750" y="3526631"/>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Anemia or bleeding</a:t>
            </a:r>
          </a:p>
        </p:txBody>
      </p:sp>
      <p:sp>
        <p:nvSpPr>
          <p:cNvPr id="7" name="Rectangle 6">
            <a:extLst>
              <a:ext uri="{FF2B5EF4-FFF2-40B4-BE49-F238E27FC236}">
                <a16:creationId xmlns:a16="http://schemas.microsoft.com/office/drawing/2014/main" id="{7DE15CD1-C2C1-4D81-96E1-4D949233DD25}"/>
              </a:ext>
            </a:extLst>
          </p:cNvPr>
          <p:cNvSpPr>
            <a:spLocks noGrp="1"/>
          </p:cNvSpPr>
          <p:nvPr/>
        </p:nvSpPr>
        <p:spPr>
          <a:xfrm>
            <a:off x="3524250" y="3526631"/>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Is there a source that requires endoscopic evaluation?</a:t>
            </a:r>
          </a:p>
        </p:txBody>
      </p:sp>
      <p:sp>
        <p:nvSpPr>
          <p:cNvPr id="8" name="Rectangle 7">
            <a:extLst>
              <a:ext uri="{FF2B5EF4-FFF2-40B4-BE49-F238E27FC236}">
                <a16:creationId xmlns:a16="http://schemas.microsoft.com/office/drawing/2014/main" id="{785E8FCA-9890-49D8-B3E8-B1CFE7B0ABF4}"/>
              </a:ext>
            </a:extLst>
          </p:cNvPr>
          <p:cNvSpPr>
            <a:spLocks noGrp="1"/>
          </p:cNvSpPr>
          <p:nvPr/>
        </p:nvSpPr>
        <p:spPr>
          <a:xfrm>
            <a:off x="647700" y="4814887"/>
            <a:ext cx="11044428"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Order tests that change management. Complete broad testing should not be a condition for referral.</a:t>
            </a:r>
          </a:p>
        </p:txBody>
      </p:sp>
      <p:sp>
        <p:nvSpPr>
          <p:cNvPr id="9" name="Rectangle 8"/>
          <p:cNvSpPr/>
          <p:nvPr/>
        </p:nvSpPr>
        <p:spPr>
          <a:xfrm>
            <a:off x="7497615" y="5494912"/>
            <a:ext cx="3630481" cy="369332"/>
          </a:xfrm>
          <a:prstGeom prst="rect">
            <a:avLst/>
          </a:prstGeom>
        </p:spPr>
        <p:txBody>
          <a:bodyPr wrap="none">
            <a:spAutoFit/>
          </a:bodyPr>
          <a:lstStyle/>
          <a:p>
            <a:r>
              <a:rPr lang="en-US" dirty="0"/>
              <a:t>ACG/CAG dyspepsia guideline (2017)</a:t>
            </a:r>
          </a:p>
        </p:txBody>
      </p:sp>
      <p:sp>
        <p:nvSpPr>
          <p:cNvPr id="11" name="Rectangle 10"/>
          <p:cNvSpPr/>
          <p:nvPr/>
        </p:nvSpPr>
        <p:spPr>
          <a:xfrm>
            <a:off x="7497615" y="5963536"/>
            <a:ext cx="4462888" cy="369332"/>
          </a:xfrm>
          <a:prstGeom prst="rect">
            <a:avLst/>
          </a:prstGeom>
        </p:spPr>
        <p:txBody>
          <a:bodyPr wrap="none">
            <a:spAutoFit/>
          </a:bodyPr>
          <a:lstStyle/>
          <a:p>
            <a:r>
              <a:rPr lang="en-US" dirty="0"/>
              <a:t>AGA chronic watery diarrhea guideline (2019)</a:t>
            </a:r>
          </a:p>
        </p:txBody>
      </p:sp>
      <p:sp>
        <p:nvSpPr>
          <p:cNvPr id="12" name="Rectangle 11"/>
          <p:cNvSpPr/>
          <p:nvPr/>
        </p:nvSpPr>
        <p:spPr>
          <a:xfrm>
            <a:off x="7497615" y="6432160"/>
            <a:ext cx="4367478" cy="369332"/>
          </a:xfrm>
          <a:prstGeom prst="rect">
            <a:avLst/>
          </a:prstGeom>
        </p:spPr>
        <p:txBody>
          <a:bodyPr wrap="none">
            <a:spAutoFit/>
          </a:bodyPr>
          <a:lstStyle/>
          <a:p>
            <a:r>
              <a:rPr lang="en-US" dirty="0"/>
              <a:t>AGA iron-deficiency anemia guideline (2020)</a:t>
            </a:r>
          </a:p>
        </p:txBody>
      </p:sp>
      <p:pic>
        <p:nvPicPr>
          <p:cNvPr id="13" name="Picture 12"/>
          <p:cNvPicPr>
            <a:picLocks noChangeAspect="1"/>
          </p:cNvPicPr>
          <p:nvPr/>
        </p:nvPicPr>
        <p:blipFill>
          <a:blip r:embed="rId3"/>
          <a:stretch>
            <a:fillRect/>
          </a:stretch>
        </p:blipFill>
        <p:spPr>
          <a:xfrm>
            <a:off x="10677669" y="113179"/>
            <a:ext cx="1282834" cy="1551975"/>
          </a:xfrm>
          <a:prstGeom prst="rect">
            <a:avLst/>
          </a:prstGeom>
        </p:spPr>
      </p:pic>
    </p:spTree>
    <p:extLst>
      <p:ext uri="{BB962C8B-B14F-4D97-AF65-F5344CB8AC3E}">
        <p14:creationId xmlns:p14="http://schemas.microsoft.com/office/powerpoint/2010/main" val="1351843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05ACF5F-5F5E-44C5-A085-6F86F9A10FDB}"/>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2: persistent watery diarrhea</a:t>
            </a:r>
          </a:p>
        </p:txBody>
      </p:sp>
      <p:sp>
        <p:nvSpPr>
          <p:cNvPr id="2" name="Rectangle 1">
            <a:extLst>
              <a:ext uri="{FF2B5EF4-FFF2-40B4-BE49-F238E27FC236}">
                <a16:creationId xmlns:a16="http://schemas.microsoft.com/office/drawing/2014/main" id="{0CF9CCC2-7CB6-4266-A022-976CF8EB60E0}"/>
              </a:ext>
            </a:extLst>
          </p:cNvPr>
          <p:cNvSpPr>
            <a:spLocks noGrp="1"/>
          </p:cNvSpPr>
          <p:nvPr/>
        </p:nvSpPr>
        <p:spPr>
          <a:xfrm>
            <a:off x="666750" y="1323975"/>
            <a:ext cx="10668000" cy="428625"/>
          </a:xfrm>
          <a:prstGeom prst="rect">
            <a:avLst/>
          </a:prstGeom>
          <a:noFill/>
          <a:ln w="0">
            <a:noFill/>
          </a:ln>
        </p:spPr>
        <p:txBody>
          <a:bodyPr>
            <a:noAutofit/>
          </a:bodyPr>
          <a:lstStyle/>
          <a:p>
            <a:pPr>
              <a:buNone/>
              <a:defRPr sz="1950" b="0">
                <a:solidFill>
                  <a:srgbClr val="53717B"/>
                </a:solidFill>
                <a:latin typeface="Bitstream Charter"/>
                <a:ea typeface="Bitstream Charter"/>
                <a:cs typeface="Bitstream Charter"/>
              </a:defRPr>
            </a:pPr>
            <a:r>
              <a:rPr sz="1950" b="0">
                <a:solidFill>
                  <a:srgbClr val="53717B"/>
                </a:solidFill>
                <a:latin typeface="Bitstream Charter"/>
                <a:ea typeface="Bitstream Charter"/>
                <a:cs typeface="Bitstream Charter"/>
              </a:rPr>
              <a:t>Which tests would change management?</a:t>
            </a:r>
          </a:p>
        </p:txBody>
      </p:sp>
      <p:sp>
        <p:nvSpPr>
          <p:cNvPr id="3" name="Rectangle 2">
            <a:extLst>
              <a:ext uri="{FF2B5EF4-FFF2-40B4-BE49-F238E27FC236}">
                <a16:creationId xmlns:a16="http://schemas.microsoft.com/office/drawing/2014/main" id="{F182A834-2BEB-47FD-93EA-68BB7F240079}"/>
              </a:ext>
            </a:extLst>
          </p:cNvPr>
          <p:cNvSpPr>
            <a:spLocks noGrp="1"/>
          </p:cNvSpPr>
          <p:nvPr/>
        </p:nvSpPr>
        <p:spPr>
          <a:xfrm>
            <a:off x="723900" y="1905000"/>
            <a:ext cx="9553956" cy="47244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A 29-year-old has 8 weeks of watery stools, 4–5 times daily, with bloating.</a:t>
            </a:r>
          </a:p>
        </p:txBody>
      </p:sp>
      <p:sp>
        <p:nvSpPr>
          <p:cNvPr id="4" name="Rectangle 3">
            <a:extLst>
              <a:ext uri="{FF2B5EF4-FFF2-40B4-BE49-F238E27FC236}">
                <a16:creationId xmlns:a16="http://schemas.microsoft.com/office/drawing/2014/main" id="{8F333A65-12E0-40B3-B55A-00C417303378}"/>
              </a:ext>
            </a:extLst>
          </p:cNvPr>
          <p:cNvSpPr>
            <a:spLocks noGrp="1"/>
          </p:cNvSpPr>
          <p:nvPr/>
        </p:nvSpPr>
        <p:spPr>
          <a:xfrm>
            <a:off x="723900" y="2467492"/>
            <a:ext cx="10553700" cy="831968"/>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No blood, weight loss, fever or nocturnal symptoms. Vitals and examination are normal.</a:t>
            </a:r>
          </a:p>
        </p:txBody>
      </p:sp>
      <p:sp>
        <p:nvSpPr>
          <p:cNvPr id="5" name="Rectangle 4">
            <a:extLst>
              <a:ext uri="{FF2B5EF4-FFF2-40B4-BE49-F238E27FC236}">
                <a16:creationId xmlns:a16="http://schemas.microsoft.com/office/drawing/2014/main" id="{A0176302-CF08-4D44-9F08-D3EE561DA7B3}"/>
              </a:ext>
            </a:extLst>
          </p:cNvPr>
          <p:cNvSpPr>
            <a:spLocks noGrp="1"/>
          </p:cNvSpPr>
          <p:nvPr/>
        </p:nvSpPr>
        <p:spPr>
          <a:xfrm>
            <a:off x="732282" y="3317694"/>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No recent antibiotics, high-risk travel or family history of IBD, celiac disease or colorectal cancer.</a:t>
            </a:r>
          </a:p>
        </p:txBody>
      </p:sp>
      <p:sp>
        <p:nvSpPr>
          <p:cNvPr id="6" name="Rectangle 5">
            <a:extLst>
              <a:ext uri="{FF2B5EF4-FFF2-40B4-BE49-F238E27FC236}">
                <a16:creationId xmlns:a16="http://schemas.microsoft.com/office/drawing/2014/main" id="{28F308EB-2535-459F-B380-A79A7ACDEA6C}"/>
              </a:ext>
            </a:extLst>
          </p:cNvPr>
          <p:cNvSpPr>
            <a:spLocks noGrp="1"/>
          </p:cNvSpPr>
          <p:nvPr/>
        </p:nvSpPr>
        <p:spPr>
          <a:xfrm>
            <a:off x="666750" y="4288428"/>
            <a:ext cx="5965698" cy="431429"/>
          </a:xfrm>
          <a:prstGeom prst="rect">
            <a:avLst/>
          </a:prstGeom>
          <a:noFill/>
          <a:ln w="0">
            <a:noFill/>
          </a:ln>
        </p:spPr>
        <p:txBody>
          <a:bodyPr>
            <a:noAutofit/>
          </a:bodyPr>
          <a:lstStyle/>
          <a:p>
            <a:pPr>
              <a:buNone/>
              <a:defRPr sz="1725" b="1">
                <a:solidFill>
                  <a:srgbClr val="087D70"/>
                </a:solidFill>
                <a:latin typeface="Bitstream Charter"/>
                <a:ea typeface="Bitstream Charter"/>
                <a:cs typeface="Bitstream Charter"/>
              </a:defRPr>
            </a:pPr>
            <a:r>
              <a:rPr sz="1725" b="1" dirty="0">
                <a:solidFill>
                  <a:srgbClr val="087D70"/>
                </a:solidFill>
                <a:latin typeface="Bitstream Charter"/>
                <a:ea typeface="Bitstream Charter"/>
                <a:cs typeface="Bitstream Charter"/>
              </a:rPr>
              <a:t>Stable does not mean “no investigation needed.”</a:t>
            </a:r>
          </a:p>
        </p:txBody>
      </p:sp>
      <p:sp>
        <p:nvSpPr>
          <p:cNvPr id="7" name="Rectangle 6"/>
          <p:cNvSpPr/>
          <p:nvPr/>
        </p:nvSpPr>
        <p:spPr>
          <a:xfrm>
            <a:off x="7388044" y="6284976"/>
            <a:ext cx="4462888" cy="369332"/>
          </a:xfrm>
          <a:prstGeom prst="rect">
            <a:avLst/>
          </a:prstGeom>
        </p:spPr>
        <p:txBody>
          <a:bodyPr wrap="none">
            <a:spAutoFit/>
          </a:bodyPr>
          <a:lstStyle/>
          <a:p>
            <a:r>
              <a:rPr lang="en-US" dirty="0"/>
              <a:t>AGA chronic watery diarrhea guideline (2019)</a:t>
            </a:r>
          </a:p>
        </p:txBody>
      </p:sp>
      <p:pic>
        <p:nvPicPr>
          <p:cNvPr id="9" name="Picture 8"/>
          <p:cNvPicPr>
            <a:picLocks noChangeAspect="1"/>
          </p:cNvPicPr>
          <p:nvPr/>
        </p:nvPicPr>
        <p:blipFill>
          <a:blip r:embed="rId3"/>
          <a:stretch>
            <a:fillRect/>
          </a:stretch>
        </p:blipFill>
        <p:spPr>
          <a:xfrm>
            <a:off x="8804947" y="3942535"/>
            <a:ext cx="2204429" cy="2214954"/>
          </a:xfrm>
          <a:prstGeom prst="rect">
            <a:avLst/>
          </a:prstGeom>
        </p:spPr>
      </p:pic>
    </p:spTree>
    <p:extLst>
      <p:ext uri="{BB962C8B-B14F-4D97-AF65-F5344CB8AC3E}">
        <p14:creationId xmlns:p14="http://schemas.microsoft.com/office/powerpoint/2010/main" val="166946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2E2A6E-355C-4836-AC60-D0C48D9E394C}"/>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2: a targeted initial work-up</a:t>
            </a:r>
          </a:p>
        </p:txBody>
      </p:sp>
      <p:sp>
        <p:nvSpPr>
          <p:cNvPr id="2" name="Rectangle 1">
            <a:extLst>
              <a:ext uri="{FF2B5EF4-FFF2-40B4-BE49-F238E27FC236}">
                <a16:creationId xmlns:a16="http://schemas.microsoft.com/office/drawing/2014/main" id="{7E0FF47B-4370-4F29-A17C-87F9C4728A01}"/>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Blood tests</a:t>
            </a:r>
          </a:p>
        </p:txBody>
      </p:sp>
      <p:sp>
        <p:nvSpPr>
          <p:cNvPr id="3" name="Rectangle 2">
            <a:extLst>
              <a:ext uri="{FF2B5EF4-FFF2-40B4-BE49-F238E27FC236}">
                <a16:creationId xmlns:a16="http://schemas.microsoft.com/office/drawing/2014/main" id="{67DDCECC-DA32-4CAF-A80C-7A9730A90701}"/>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CBC and chemistry as clinically indicated. Tissue transglutaminase IgA with total IgA.</a:t>
            </a:r>
          </a:p>
        </p:txBody>
      </p:sp>
      <p:sp>
        <p:nvSpPr>
          <p:cNvPr id="4" name="Rectangle 3">
            <a:extLst>
              <a:ext uri="{FF2B5EF4-FFF2-40B4-BE49-F238E27FC236}">
                <a16:creationId xmlns:a16="http://schemas.microsoft.com/office/drawing/2014/main" id="{A87DAE52-03C5-44D1-B156-D61D5BE94F10}"/>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Stool tests</a:t>
            </a:r>
          </a:p>
        </p:txBody>
      </p:sp>
      <p:sp>
        <p:nvSpPr>
          <p:cNvPr id="5" name="Rectangle 4">
            <a:extLst>
              <a:ext uri="{FF2B5EF4-FFF2-40B4-BE49-F238E27FC236}">
                <a16:creationId xmlns:a16="http://schemas.microsoft.com/office/drawing/2014/main" id="{C43DEAE5-2776-4953-98A1-8D57D5F6C037}"/>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Fecal calprotectin or lactoferrin, plus Giardia testing. Add other infection tests when indicated.</a:t>
            </a:r>
          </a:p>
        </p:txBody>
      </p:sp>
      <p:sp>
        <p:nvSpPr>
          <p:cNvPr id="6" name="Rectangle 5">
            <a:extLst>
              <a:ext uri="{FF2B5EF4-FFF2-40B4-BE49-F238E27FC236}">
                <a16:creationId xmlns:a16="http://schemas.microsoft.com/office/drawing/2014/main" id="{C4FB13EA-7CC5-4EB7-9612-3EE0DD066AC8}"/>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Interpretation</a:t>
            </a:r>
          </a:p>
        </p:txBody>
      </p:sp>
      <p:sp>
        <p:nvSpPr>
          <p:cNvPr id="7" name="Rectangle 6">
            <a:extLst>
              <a:ext uri="{FF2B5EF4-FFF2-40B4-BE49-F238E27FC236}">
                <a16:creationId xmlns:a16="http://schemas.microsoft.com/office/drawing/2014/main" id="{263F54E5-CCF4-4EDC-BFF1-3FA9D5EB5489}"/>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Positive celiac serology or inflammatory findings warrant specialist evaluation.</a:t>
            </a:r>
          </a:p>
        </p:txBody>
      </p:sp>
      <p:sp>
        <p:nvSpPr>
          <p:cNvPr id="8" name="Rectangle 7">
            <a:extLst>
              <a:ext uri="{FF2B5EF4-FFF2-40B4-BE49-F238E27FC236}">
                <a16:creationId xmlns:a16="http://schemas.microsoft.com/office/drawing/2014/main" id="{695894EC-2877-4ADD-968C-DF0B8ED8E81E}"/>
              </a:ext>
            </a:extLst>
          </p:cNvPr>
          <p:cNvSpPr>
            <a:spLocks noGrp="1"/>
          </p:cNvSpPr>
          <p:nvPr/>
        </p:nvSpPr>
        <p:spPr>
          <a:xfrm>
            <a:off x="666750" y="5762625"/>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smtClean="0">
                <a:solidFill>
                  <a:srgbClr val="53717B"/>
                </a:solidFill>
                <a:latin typeface="Bitstream Charter"/>
                <a:ea typeface="Bitstream Charter"/>
                <a:cs typeface="Bitstream Charter"/>
              </a:rPr>
              <a:t>Keep gluten in the diet during celiac testing. IgA deficiency needs an appropriate IgG-based test.</a:t>
            </a:r>
            <a:endParaRPr sz="1725" b="1">
              <a:solidFill>
                <a:srgbClr val="53717B"/>
              </a:solidFill>
              <a:latin typeface="Bitstream Charter"/>
              <a:ea typeface="Bitstream Charter"/>
              <a:cs typeface="Bitstream Charter"/>
            </a:endParaRPr>
          </a:p>
        </p:txBody>
      </p:sp>
      <p:sp>
        <p:nvSpPr>
          <p:cNvPr id="9" name="Rectangle 8"/>
          <p:cNvSpPr/>
          <p:nvPr/>
        </p:nvSpPr>
        <p:spPr>
          <a:xfrm>
            <a:off x="7570924" y="6381750"/>
            <a:ext cx="4462888" cy="369332"/>
          </a:xfrm>
          <a:prstGeom prst="rect">
            <a:avLst/>
          </a:prstGeom>
        </p:spPr>
        <p:txBody>
          <a:bodyPr wrap="none">
            <a:spAutoFit/>
          </a:bodyPr>
          <a:lstStyle/>
          <a:p>
            <a:r>
              <a:rPr lang="en-US" dirty="0"/>
              <a:t>AGA chronic watery diarrhea guideline (2019)</a:t>
            </a:r>
          </a:p>
        </p:txBody>
      </p:sp>
      <p:pic>
        <p:nvPicPr>
          <p:cNvPr id="11" name="Picture 10"/>
          <p:cNvPicPr>
            <a:picLocks noChangeAspect="1"/>
          </p:cNvPicPr>
          <p:nvPr/>
        </p:nvPicPr>
        <p:blipFill>
          <a:blip r:embed="rId3"/>
          <a:stretch>
            <a:fillRect/>
          </a:stretch>
        </p:blipFill>
        <p:spPr>
          <a:xfrm>
            <a:off x="9886785" y="95250"/>
            <a:ext cx="2147027" cy="1428749"/>
          </a:xfrm>
          <a:prstGeom prst="rect">
            <a:avLst/>
          </a:prstGeom>
        </p:spPr>
      </p:pic>
    </p:spTree>
    <p:extLst>
      <p:ext uri="{BB962C8B-B14F-4D97-AF65-F5344CB8AC3E}">
        <p14:creationId xmlns:p14="http://schemas.microsoft.com/office/powerpoint/2010/main" val="1538039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0BED91-0E66-4D7A-8E07-7B8FCE8F47FD}"/>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2: how the results change the pathway</a:t>
            </a:r>
          </a:p>
        </p:txBody>
      </p:sp>
      <p:sp>
        <p:nvSpPr>
          <p:cNvPr id="2" name="Rectangle 1">
            <a:extLst>
              <a:ext uri="{FF2B5EF4-FFF2-40B4-BE49-F238E27FC236}">
                <a16:creationId xmlns:a16="http://schemas.microsoft.com/office/drawing/2014/main" id="{2F6AB487-9841-43E6-B8B6-56E49B4EC5F7}"/>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Reassuring results</a:t>
            </a:r>
          </a:p>
        </p:txBody>
      </p:sp>
      <p:sp>
        <p:nvSpPr>
          <p:cNvPr id="3" name="Rectangle 2">
            <a:extLst>
              <a:ext uri="{FF2B5EF4-FFF2-40B4-BE49-F238E27FC236}">
                <a16:creationId xmlns:a16="http://schemas.microsoft.com/office/drawing/2014/main" id="{7CBFF5D1-9320-4273-94E5-5DAEF5EA12EB}"/>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Reassess symptoms and medicines. Consider functional diarrhea or IBS when criteria fit.</a:t>
            </a:r>
          </a:p>
        </p:txBody>
      </p:sp>
      <p:sp>
        <p:nvSpPr>
          <p:cNvPr id="4" name="Rectangle 3">
            <a:extLst>
              <a:ext uri="{FF2B5EF4-FFF2-40B4-BE49-F238E27FC236}">
                <a16:creationId xmlns:a16="http://schemas.microsoft.com/office/drawing/2014/main" id="{8ABC88B1-EF0A-4DFA-99E6-DE1701B7F3F2}"/>
              </a:ext>
            </a:extLst>
          </p:cNvPr>
          <p:cNvSpPr>
            <a:spLocks noGrp="1"/>
          </p:cNvSpPr>
          <p:nvPr/>
        </p:nvSpPr>
        <p:spPr>
          <a:xfrm>
            <a:off x="666750" y="26860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Positive celiac serology</a:t>
            </a:r>
          </a:p>
        </p:txBody>
      </p:sp>
      <p:sp>
        <p:nvSpPr>
          <p:cNvPr id="5" name="Rectangle 4">
            <a:extLst>
              <a:ext uri="{FF2B5EF4-FFF2-40B4-BE49-F238E27FC236}">
                <a16:creationId xmlns:a16="http://schemas.microsoft.com/office/drawing/2014/main" id="{9A9EA8AB-029F-4BBD-B7E1-C32A97DB1AB6}"/>
              </a:ext>
            </a:extLst>
          </p:cNvPr>
          <p:cNvSpPr>
            <a:spLocks noGrp="1"/>
          </p:cNvSpPr>
          <p:nvPr/>
        </p:nvSpPr>
        <p:spPr>
          <a:xfrm>
            <a:off x="3524250" y="26860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Refer for diagnostic confirmation. Avoid a gluten-free diet before confirmation.</a:t>
            </a:r>
          </a:p>
        </p:txBody>
      </p:sp>
      <p:sp>
        <p:nvSpPr>
          <p:cNvPr id="6" name="Rectangle 5">
            <a:extLst>
              <a:ext uri="{FF2B5EF4-FFF2-40B4-BE49-F238E27FC236}">
                <a16:creationId xmlns:a16="http://schemas.microsoft.com/office/drawing/2014/main" id="{614E0C75-969B-46CC-A71D-A6B925C3955F}"/>
              </a:ext>
            </a:extLst>
          </p:cNvPr>
          <p:cNvSpPr>
            <a:spLocks noGrp="1"/>
          </p:cNvSpPr>
          <p:nvPr/>
        </p:nvSpPr>
        <p:spPr>
          <a:xfrm>
            <a:off x="666750" y="38004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Persistent or abnormal findings</a:t>
            </a:r>
          </a:p>
        </p:txBody>
      </p:sp>
      <p:sp>
        <p:nvSpPr>
          <p:cNvPr id="7" name="Rectangle 6">
            <a:extLst>
              <a:ext uri="{FF2B5EF4-FFF2-40B4-BE49-F238E27FC236}">
                <a16:creationId xmlns:a16="http://schemas.microsoft.com/office/drawing/2014/main" id="{4318A944-30B2-4422-AE0E-A30505F91542}"/>
              </a:ext>
            </a:extLst>
          </p:cNvPr>
          <p:cNvSpPr>
            <a:spLocks noGrp="1"/>
          </p:cNvSpPr>
          <p:nvPr/>
        </p:nvSpPr>
        <p:spPr>
          <a:xfrm>
            <a:off x="3524250" y="38004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Refer for further evaluation, which may include colonoscopy and biopsies.</a:t>
            </a:r>
          </a:p>
        </p:txBody>
      </p:sp>
      <p:sp>
        <p:nvSpPr>
          <p:cNvPr id="8" name="Rectangle 7">
            <a:extLst>
              <a:ext uri="{FF2B5EF4-FFF2-40B4-BE49-F238E27FC236}">
                <a16:creationId xmlns:a16="http://schemas.microsoft.com/office/drawing/2014/main" id="{40F2F7F9-771D-4DD9-83A9-B51C1D8FDE87}"/>
              </a:ext>
            </a:extLst>
          </p:cNvPr>
          <p:cNvSpPr>
            <a:spLocks noGrp="1"/>
          </p:cNvSpPr>
          <p:nvPr/>
        </p:nvSpPr>
        <p:spPr>
          <a:xfrm>
            <a:off x="666750" y="4914900"/>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Calprotectin is not a cancer test. A normal result does not exclude every organic cause of diarrhea.</a:t>
            </a:r>
          </a:p>
        </p:txBody>
      </p:sp>
      <p:sp>
        <p:nvSpPr>
          <p:cNvPr id="9" name="Rectangle 8"/>
          <p:cNvSpPr/>
          <p:nvPr/>
        </p:nvSpPr>
        <p:spPr>
          <a:xfrm>
            <a:off x="7302700" y="5911334"/>
            <a:ext cx="4462888" cy="369332"/>
          </a:xfrm>
          <a:prstGeom prst="rect">
            <a:avLst/>
          </a:prstGeom>
        </p:spPr>
        <p:txBody>
          <a:bodyPr wrap="none">
            <a:spAutoFit/>
          </a:bodyPr>
          <a:lstStyle/>
          <a:p>
            <a:r>
              <a:rPr lang="en-US" dirty="0"/>
              <a:t>AGA chronic watery diarrhea guideline (2019)</a:t>
            </a:r>
          </a:p>
        </p:txBody>
      </p:sp>
      <p:sp>
        <p:nvSpPr>
          <p:cNvPr id="11" name="Rectangle 10"/>
          <p:cNvSpPr/>
          <p:nvPr/>
        </p:nvSpPr>
        <p:spPr>
          <a:xfrm>
            <a:off x="7302700" y="6326743"/>
            <a:ext cx="2439642" cy="369332"/>
          </a:xfrm>
          <a:prstGeom prst="rect">
            <a:avLst/>
          </a:prstGeom>
        </p:spPr>
        <p:txBody>
          <a:bodyPr wrap="none">
            <a:spAutoFit/>
          </a:bodyPr>
          <a:lstStyle/>
          <a:p>
            <a:r>
              <a:rPr lang="en-US" dirty="0"/>
              <a:t>NICE CG61: IBS in adults</a:t>
            </a:r>
          </a:p>
        </p:txBody>
      </p:sp>
    </p:spTree>
    <p:extLst>
      <p:ext uri="{BB962C8B-B14F-4D97-AF65-F5344CB8AC3E}">
        <p14:creationId xmlns:p14="http://schemas.microsoft.com/office/powerpoint/2010/main" val="618706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74" y="101103"/>
            <a:ext cx="12005881" cy="6756897"/>
          </a:xfrm>
          <a:prstGeom prst="rect">
            <a:avLst/>
          </a:prstGeom>
        </p:spPr>
      </p:pic>
    </p:spTree>
    <p:extLst>
      <p:ext uri="{BB962C8B-B14F-4D97-AF65-F5344CB8AC3E}">
        <p14:creationId xmlns:p14="http://schemas.microsoft.com/office/powerpoint/2010/main" val="277797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3493C3-99DB-42E1-901E-070433F4ED5E}"/>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a:solidFill>
                  <a:srgbClr val="FFFFFF"/>
                </a:solidFill>
                <a:latin typeface="Bitstream Charter"/>
                <a:ea typeface="Bitstream Charter"/>
                <a:cs typeface="Bitstream Charter"/>
              </a:rPr>
              <a:t>When to refer</a:t>
            </a:r>
          </a:p>
        </p:txBody>
      </p:sp>
      <p:sp>
        <p:nvSpPr>
          <p:cNvPr id="3" name="Rectangle 2">
            <a:extLst>
              <a:ext uri="{FF2B5EF4-FFF2-40B4-BE49-F238E27FC236}">
                <a16:creationId xmlns:a16="http://schemas.microsoft.com/office/drawing/2014/main" id="{D7DC3027-7CC8-4009-B5DE-F86005BE91C3}"/>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Does this patient need a specialist, and how urgently?</a:t>
            </a:r>
          </a:p>
        </p:txBody>
      </p:sp>
      <p:sp>
        <p:nvSpPr>
          <p:cNvPr id="4" name="Rectangle 3">
            <a:extLst>
              <a:ext uri="{FF2B5EF4-FFF2-40B4-BE49-F238E27FC236}">
                <a16:creationId xmlns:a16="http://schemas.microsoft.com/office/drawing/2014/main" id="{2F8761F7-63C4-4FAD-901D-CA5B0940218E}"/>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Case 3: anemia presentation, referral and parallel care</a:t>
            </a:r>
          </a:p>
        </p:txBody>
      </p:sp>
    </p:spTree>
    <p:extLst>
      <p:ext uri="{BB962C8B-B14F-4D97-AF65-F5344CB8AC3E}">
        <p14:creationId xmlns:p14="http://schemas.microsoft.com/office/powerpoint/2010/main" val="1762951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B199B8-400B-4600-9C40-9BE9EDC2ABD0}"/>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Referral urgency</a:t>
            </a:r>
          </a:p>
        </p:txBody>
      </p:sp>
      <p:sp>
        <p:nvSpPr>
          <p:cNvPr id="2" name="Rectangle 1">
            <a:extLst>
              <a:ext uri="{FF2B5EF4-FFF2-40B4-BE49-F238E27FC236}">
                <a16:creationId xmlns:a16="http://schemas.microsoft.com/office/drawing/2014/main" id="{660BBD46-0519-47D9-947D-7A71C1838D89}"/>
              </a:ext>
            </a:extLst>
          </p:cNvPr>
          <p:cNvSpPr>
            <a:spLocks noGrp="1"/>
          </p:cNvSpPr>
          <p:nvPr/>
        </p:nvSpPr>
        <p:spPr>
          <a:xfrm>
            <a:off x="666750" y="1850898"/>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Emergency</a:t>
            </a:r>
          </a:p>
        </p:txBody>
      </p:sp>
      <p:sp>
        <p:nvSpPr>
          <p:cNvPr id="3" name="Rectangle 2">
            <a:extLst>
              <a:ext uri="{FF2B5EF4-FFF2-40B4-BE49-F238E27FC236}">
                <a16:creationId xmlns:a16="http://schemas.microsoft.com/office/drawing/2014/main" id="{A0CFC608-5378-4DF2-8CE9-B46A1A49254C}"/>
              </a:ext>
            </a:extLst>
          </p:cNvPr>
          <p:cNvSpPr>
            <a:spLocks noGrp="1"/>
          </p:cNvSpPr>
          <p:nvPr/>
        </p:nvSpPr>
        <p:spPr>
          <a:xfrm>
            <a:off x="3524250" y="1850898"/>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Instability, severe acute bleeding, peritonitis, obstruction or inability to swallow saliva.</a:t>
            </a:r>
          </a:p>
        </p:txBody>
      </p:sp>
      <p:sp>
        <p:nvSpPr>
          <p:cNvPr id="4" name="Rectangle 3">
            <a:extLst>
              <a:ext uri="{FF2B5EF4-FFF2-40B4-BE49-F238E27FC236}">
                <a16:creationId xmlns:a16="http://schemas.microsoft.com/office/drawing/2014/main" id="{BC12C52B-AA70-4EEC-B440-4959F39FBB39}"/>
              </a:ext>
            </a:extLst>
          </p:cNvPr>
          <p:cNvSpPr>
            <a:spLocks noGrp="1"/>
          </p:cNvSpPr>
          <p:nvPr/>
        </p:nvSpPr>
        <p:spPr>
          <a:xfrm>
            <a:off x="666750" y="2784348"/>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Urgent / expedited</a:t>
            </a:r>
          </a:p>
        </p:txBody>
      </p:sp>
      <p:sp>
        <p:nvSpPr>
          <p:cNvPr id="5" name="Rectangle 4">
            <a:extLst>
              <a:ext uri="{FF2B5EF4-FFF2-40B4-BE49-F238E27FC236}">
                <a16:creationId xmlns:a16="http://schemas.microsoft.com/office/drawing/2014/main" id="{0BFB08FC-3C56-43FB-893D-818B005C751F}"/>
              </a:ext>
            </a:extLst>
          </p:cNvPr>
          <p:cNvSpPr>
            <a:spLocks noGrp="1"/>
          </p:cNvSpPr>
          <p:nvPr/>
        </p:nvSpPr>
        <p:spPr>
          <a:xfrm>
            <a:off x="3524250" y="2784348"/>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Progressive dysphagia, suspected cancer, concerning anemia or probable active inflammatory disease.</a:t>
            </a:r>
          </a:p>
        </p:txBody>
      </p:sp>
      <p:sp>
        <p:nvSpPr>
          <p:cNvPr id="6" name="Rectangle 5">
            <a:extLst>
              <a:ext uri="{FF2B5EF4-FFF2-40B4-BE49-F238E27FC236}">
                <a16:creationId xmlns:a16="http://schemas.microsoft.com/office/drawing/2014/main" id="{BC24FBD3-4893-40D2-9335-C3692F027C76}"/>
              </a:ext>
            </a:extLst>
          </p:cNvPr>
          <p:cNvSpPr>
            <a:spLocks noGrp="1"/>
          </p:cNvSpPr>
          <p:nvPr/>
        </p:nvSpPr>
        <p:spPr>
          <a:xfrm>
            <a:off x="666750" y="3717798"/>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Routine</a:t>
            </a:r>
          </a:p>
        </p:txBody>
      </p:sp>
      <p:sp>
        <p:nvSpPr>
          <p:cNvPr id="7" name="Rectangle 6">
            <a:extLst>
              <a:ext uri="{FF2B5EF4-FFF2-40B4-BE49-F238E27FC236}">
                <a16:creationId xmlns:a16="http://schemas.microsoft.com/office/drawing/2014/main" id="{8721C230-6813-4A2D-B228-EFFA197655C4}"/>
              </a:ext>
            </a:extLst>
          </p:cNvPr>
          <p:cNvSpPr>
            <a:spLocks noGrp="1"/>
          </p:cNvSpPr>
          <p:nvPr/>
        </p:nvSpPr>
        <p:spPr>
          <a:xfrm>
            <a:off x="3524250" y="3717798"/>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Persistent symptoms despite appropriate care, diagnostic uncertainty or a need for specialist testing.</a:t>
            </a:r>
          </a:p>
        </p:txBody>
      </p:sp>
      <p:sp>
        <p:nvSpPr>
          <p:cNvPr id="8" name="Rectangle 7">
            <a:extLst>
              <a:ext uri="{FF2B5EF4-FFF2-40B4-BE49-F238E27FC236}">
                <a16:creationId xmlns:a16="http://schemas.microsoft.com/office/drawing/2014/main" id="{68BC77D6-3F5C-4992-AD8E-94129ED71B3B}"/>
              </a:ext>
            </a:extLst>
          </p:cNvPr>
          <p:cNvSpPr>
            <a:spLocks noGrp="1"/>
          </p:cNvSpPr>
          <p:nvPr/>
        </p:nvSpPr>
        <p:spPr>
          <a:xfrm>
            <a:off x="666750" y="4976812"/>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State the urgency and reason. Use the local pathway rather than a universal waiting-time target.</a:t>
            </a:r>
          </a:p>
        </p:txBody>
      </p:sp>
      <p:sp>
        <p:nvSpPr>
          <p:cNvPr id="9" name="Rectangle 8"/>
          <p:cNvSpPr/>
          <p:nvPr/>
        </p:nvSpPr>
        <p:spPr>
          <a:xfrm>
            <a:off x="7818060" y="5725596"/>
            <a:ext cx="3689664" cy="369332"/>
          </a:xfrm>
          <a:prstGeom prst="rect">
            <a:avLst/>
          </a:prstGeom>
        </p:spPr>
        <p:txBody>
          <a:bodyPr wrap="none">
            <a:spAutoFit/>
          </a:bodyPr>
          <a:lstStyle/>
          <a:p>
            <a:r>
              <a:rPr lang="en-US" dirty="0"/>
              <a:t>NICE NG12: suspected cancer referral</a:t>
            </a:r>
          </a:p>
        </p:txBody>
      </p:sp>
      <p:sp>
        <p:nvSpPr>
          <p:cNvPr id="11" name="Rectangle 10"/>
          <p:cNvSpPr/>
          <p:nvPr/>
        </p:nvSpPr>
        <p:spPr>
          <a:xfrm>
            <a:off x="7812330" y="6116525"/>
            <a:ext cx="4367478" cy="369332"/>
          </a:xfrm>
          <a:prstGeom prst="rect">
            <a:avLst/>
          </a:prstGeom>
        </p:spPr>
        <p:txBody>
          <a:bodyPr wrap="none">
            <a:spAutoFit/>
          </a:bodyPr>
          <a:lstStyle/>
          <a:p>
            <a:r>
              <a:rPr lang="en-US" dirty="0"/>
              <a:t>AGA iron-deficiency anemia guideline (2020)</a:t>
            </a:r>
          </a:p>
        </p:txBody>
      </p:sp>
      <p:sp>
        <p:nvSpPr>
          <p:cNvPr id="12" name="Rectangle 11"/>
          <p:cNvSpPr/>
          <p:nvPr/>
        </p:nvSpPr>
        <p:spPr>
          <a:xfrm>
            <a:off x="7839476" y="6461997"/>
            <a:ext cx="3668248" cy="369332"/>
          </a:xfrm>
          <a:prstGeom prst="rect">
            <a:avLst/>
          </a:prstGeom>
        </p:spPr>
        <p:txBody>
          <a:bodyPr wrap="none">
            <a:spAutoFit/>
          </a:bodyPr>
          <a:lstStyle/>
          <a:p>
            <a:r>
              <a:rPr lang="nb-NO" dirty="0"/>
              <a:t>NICE CG141: acute upper GI bleeding</a:t>
            </a:r>
          </a:p>
        </p:txBody>
      </p:sp>
      <p:pic>
        <p:nvPicPr>
          <p:cNvPr id="13" name="Picture 12"/>
          <p:cNvPicPr>
            <a:picLocks noChangeAspect="1"/>
          </p:cNvPicPr>
          <p:nvPr/>
        </p:nvPicPr>
        <p:blipFill>
          <a:blip r:embed="rId3"/>
          <a:stretch>
            <a:fillRect/>
          </a:stretch>
        </p:blipFill>
        <p:spPr>
          <a:xfrm>
            <a:off x="9204961" y="205027"/>
            <a:ext cx="2730384" cy="1423828"/>
          </a:xfrm>
          <a:prstGeom prst="rect">
            <a:avLst/>
          </a:prstGeom>
        </p:spPr>
      </p:pic>
    </p:spTree>
    <p:extLst>
      <p:ext uri="{BB962C8B-B14F-4D97-AF65-F5344CB8AC3E}">
        <p14:creationId xmlns:p14="http://schemas.microsoft.com/office/powerpoint/2010/main" val="241252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460949-5654-4086-A62E-A08A33B4A9EB}"/>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3: anemia with a bowel habit change</a:t>
            </a:r>
          </a:p>
        </p:txBody>
      </p:sp>
      <p:sp>
        <p:nvSpPr>
          <p:cNvPr id="2" name="Rectangle 1">
            <a:extLst>
              <a:ext uri="{FF2B5EF4-FFF2-40B4-BE49-F238E27FC236}">
                <a16:creationId xmlns:a16="http://schemas.microsoft.com/office/drawing/2014/main" id="{9ADF6199-04FC-41E2-BDE3-46DBCC1A8DC3}"/>
              </a:ext>
            </a:extLst>
          </p:cNvPr>
          <p:cNvSpPr>
            <a:spLocks noGrp="1"/>
          </p:cNvSpPr>
          <p:nvPr/>
        </p:nvSpPr>
        <p:spPr>
          <a:xfrm>
            <a:off x="666750" y="1323975"/>
            <a:ext cx="10668000" cy="428625"/>
          </a:xfrm>
          <a:prstGeom prst="rect">
            <a:avLst/>
          </a:prstGeom>
          <a:noFill/>
          <a:ln w="0">
            <a:noFill/>
          </a:ln>
        </p:spPr>
        <p:txBody>
          <a:bodyPr>
            <a:noAutofit/>
          </a:bodyPr>
          <a:lstStyle/>
          <a:p>
            <a:pPr>
              <a:buNone/>
              <a:defRPr sz="1950" b="0">
                <a:solidFill>
                  <a:srgbClr val="53717B"/>
                </a:solidFill>
                <a:latin typeface="Bitstream Charter"/>
                <a:ea typeface="Bitstream Charter"/>
                <a:cs typeface="Bitstream Charter"/>
              </a:defRPr>
            </a:pPr>
            <a:r>
              <a:rPr sz="1950" b="0">
                <a:solidFill>
                  <a:srgbClr val="53717B"/>
                </a:solidFill>
                <a:latin typeface="Bitstream Charter"/>
                <a:ea typeface="Bitstream Charter"/>
                <a:cs typeface="Bitstream Charter"/>
              </a:rPr>
              <a:t>Is iron replacement alone enough?</a:t>
            </a:r>
          </a:p>
        </p:txBody>
      </p:sp>
      <p:sp>
        <p:nvSpPr>
          <p:cNvPr id="3" name="Rectangle 2">
            <a:extLst>
              <a:ext uri="{FF2B5EF4-FFF2-40B4-BE49-F238E27FC236}">
                <a16:creationId xmlns:a16="http://schemas.microsoft.com/office/drawing/2014/main" id="{68BF08D3-197F-43A8-A6E2-780439F2F02B}"/>
              </a:ext>
            </a:extLst>
          </p:cNvPr>
          <p:cNvSpPr>
            <a:spLocks noGrp="1"/>
          </p:cNvSpPr>
          <p:nvPr/>
        </p:nvSpPr>
        <p:spPr>
          <a:xfrm>
            <a:off x="723900" y="19050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A 62-year-old man reports fatigue and 2 months of altered bowel habit.</a:t>
            </a:r>
          </a:p>
        </p:txBody>
      </p:sp>
      <p:sp>
        <p:nvSpPr>
          <p:cNvPr id="4" name="Rectangle 3">
            <a:extLst>
              <a:ext uri="{FF2B5EF4-FFF2-40B4-BE49-F238E27FC236}">
                <a16:creationId xmlns:a16="http://schemas.microsoft.com/office/drawing/2014/main" id="{5DB8B92F-37A7-4404-8791-44045072618E}"/>
              </a:ext>
            </a:extLst>
          </p:cNvPr>
          <p:cNvSpPr>
            <a:spLocks noGrp="1"/>
          </p:cNvSpPr>
          <p:nvPr/>
        </p:nvSpPr>
        <p:spPr>
          <a:xfrm>
            <a:off x="723900" y="291465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Hemoglobin 9.8 g/dL, MCV 72 fL, ferritin 8 ng/mL.</a:t>
            </a:r>
          </a:p>
        </p:txBody>
      </p:sp>
      <p:sp>
        <p:nvSpPr>
          <p:cNvPr id="5" name="Rectangle 4">
            <a:extLst>
              <a:ext uri="{FF2B5EF4-FFF2-40B4-BE49-F238E27FC236}">
                <a16:creationId xmlns:a16="http://schemas.microsoft.com/office/drawing/2014/main" id="{C0BA8E1C-E327-40E4-8193-AF8922CBC041}"/>
              </a:ext>
            </a:extLst>
          </p:cNvPr>
          <p:cNvSpPr>
            <a:spLocks noGrp="1"/>
          </p:cNvSpPr>
          <p:nvPr/>
        </p:nvSpPr>
        <p:spPr>
          <a:xfrm>
            <a:off x="723900" y="392430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He is stable and has no visible rectal bleeding.</a:t>
            </a:r>
          </a:p>
        </p:txBody>
      </p:sp>
      <p:sp>
        <p:nvSpPr>
          <p:cNvPr id="6" name="Rectangle 5">
            <a:extLst>
              <a:ext uri="{FF2B5EF4-FFF2-40B4-BE49-F238E27FC236}">
                <a16:creationId xmlns:a16="http://schemas.microsoft.com/office/drawing/2014/main" id="{AC236A3E-C57A-4BAE-A2F4-3B5E332552A2}"/>
              </a:ext>
            </a:extLst>
          </p:cNvPr>
          <p:cNvSpPr>
            <a:spLocks noGrp="1"/>
          </p:cNvSpPr>
          <p:nvPr/>
        </p:nvSpPr>
        <p:spPr>
          <a:xfrm>
            <a:off x="666750" y="4775073"/>
            <a:ext cx="10477500" cy="619125"/>
          </a:xfrm>
          <a:prstGeom prst="rect">
            <a:avLst/>
          </a:prstGeom>
          <a:noFill/>
          <a:ln w="0">
            <a:noFill/>
          </a:ln>
        </p:spPr>
        <p:txBody>
          <a:bodyPr>
            <a:noAutofit/>
          </a:bodyPr>
          <a:lstStyle/>
          <a:p>
            <a:pPr>
              <a:buNone/>
              <a:defRPr sz="1725" b="1">
                <a:solidFill>
                  <a:srgbClr val="087D70"/>
                </a:solidFill>
                <a:latin typeface="Bitstream Charter"/>
                <a:ea typeface="Bitstream Charter"/>
                <a:cs typeface="Bitstream Charter"/>
              </a:defRPr>
            </a:pPr>
            <a:r>
              <a:rPr sz="1725" b="1" dirty="0">
                <a:solidFill>
                  <a:srgbClr val="087D70"/>
                </a:solidFill>
                <a:latin typeface="Bitstream Charter"/>
                <a:ea typeface="Bitstream Charter"/>
                <a:cs typeface="Bitstream Charter"/>
              </a:rPr>
              <a:t>The absence of visible blood does not remove the need for GI evaluation.</a:t>
            </a:r>
          </a:p>
        </p:txBody>
      </p:sp>
      <p:sp>
        <p:nvSpPr>
          <p:cNvPr id="7" name="Rectangle 6"/>
          <p:cNvSpPr/>
          <p:nvPr/>
        </p:nvSpPr>
        <p:spPr>
          <a:xfrm>
            <a:off x="7374789" y="5462564"/>
            <a:ext cx="4367478" cy="369332"/>
          </a:xfrm>
          <a:prstGeom prst="rect">
            <a:avLst/>
          </a:prstGeom>
        </p:spPr>
        <p:txBody>
          <a:bodyPr wrap="none">
            <a:spAutoFit/>
          </a:bodyPr>
          <a:lstStyle/>
          <a:p>
            <a:r>
              <a:rPr lang="en-US" dirty="0"/>
              <a:t>AGA iron-deficiency anemia guideline (2020)</a:t>
            </a:r>
          </a:p>
        </p:txBody>
      </p:sp>
      <p:sp>
        <p:nvSpPr>
          <p:cNvPr id="9" name="Rectangle 8"/>
          <p:cNvSpPr/>
          <p:nvPr/>
        </p:nvSpPr>
        <p:spPr>
          <a:xfrm>
            <a:off x="7430202" y="5902762"/>
            <a:ext cx="3689664" cy="369332"/>
          </a:xfrm>
          <a:prstGeom prst="rect">
            <a:avLst/>
          </a:prstGeom>
        </p:spPr>
        <p:txBody>
          <a:bodyPr wrap="none">
            <a:spAutoFit/>
          </a:bodyPr>
          <a:lstStyle/>
          <a:p>
            <a:r>
              <a:rPr lang="en-US" dirty="0"/>
              <a:t>NICE NG12: suspected cancer referral</a:t>
            </a:r>
          </a:p>
        </p:txBody>
      </p:sp>
      <p:pic>
        <p:nvPicPr>
          <p:cNvPr id="11" name="Picture 10"/>
          <p:cNvPicPr>
            <a:picLocks noChangeAspect="1"/>
          </p:cNvPicPr>
          <p:nvPr/>
        </p:nvPicPr>
        <p:blipFill>
          <a:blip r:embed="rId3"/>
          <a:stretch>
            <a:fillRect/>
          </a:stretch>
        </p:blipFill>
        <p:spPr>
          <a:xfrm>
            <a:off x="9607875" y="2609868"/>
            <a:ext cx="2134392" cy="2196810"/>
          </a:xfrm>
          <a:prstGeom prst="rect">
            <a:avLst/>
          </a:prstGeom>
        </p:spPr>
      </p:pic>
    </p:spTree>
    <p:extLst>
      <p:ext uri="{BB962C8B-B14F-4D97-AF65-F5344CB8AC3E}">
        <p14:creationId xmlns:p14="http://schemas.microsoft.com/office/powerpoint/2010/main" val="189733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723AF0-79B9-49B2-B5CB-AE0CA2AECE85}"/>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Case 3: expedited referral and parallel care</a:t>
            </a:r>
          </a:p>
        </p:txBody>
      </p:sp>
      <p:sp>
        <p:nvSpPr>
          <p:cNvPr id="2" name="Rectangle 1">
            <a:extLst>
              <a:ext uri="{FF2B5EF4-FFF2-40B4-BE49-F238E27FC236}">
                <a16:creationId xmlns:a16="http://schemas.microsoft.com/office/drawing/2014/main" id="{F4F256B5-5F19-403E-8495-6811B497D35B}"/>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Refer</a:t>
            </a:r>
          </a:p>
        </p:txBody>
      </p:sp>
      <p:sp>
        <p:nvSpPr>
          <p:cNvPr id="3" name="Rectangle 2">
            <a:extLst>
              <a:ext uri="{FF2B5EF4-FFF2-40B4-BE49-F238E27FC236}">
                <a16:creationId xmlns:a16="http://schemas.microsoft.com/office/drawing/2014/main" id="{B80E562F-5B2F-4BA6-9CCF-C707C3A90B53}"/>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Use an expedited GI or suspected-cancer pathway for unexplained IDA with bowel change.</a:t>
            </a:r>
          </a:p>
        </p:txBody>
      </p:sp>
      <p:sp>
        <p:nvSpPr>
          <p:cNvPr id="4" name="Rectangle 3">
            <a:extLst>
              <a:ext uri="{FF2B5EF4-FFF2-40B4-BE49-F238E27FC236}">
                <a16:creationId xmlns:a16="http://schemas.microsoft.com/office/drawing/2014/main" id="{07C820DF-6035-4F9E-B832-A240171C81E4}"/>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Investigate</a:t>
            </a:r>
          </a:p>
        </p:txBody>
      </p:sp>
      <p:sp>
        <p:nvSpPr>
          <p:cNvPr id="5" name="Rectangle 4">
            <a:extLst>
              <a:ext uri="{FF2B5EF4-FFF2-40B4-BE49-F238E27FC236}">
                <a16:creationId xmlns:a16="http://schemas.microsoft.com/office/drawing/2014/main" id="{42959DDE-7190-4D24-8AD5-F05B65F2DDC3}"/>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Bidirectional endoscopy is usually indicated in men with unexplained IDA.</a:t>
            </a:r>
          </a:p>
        </p:txBody>
      </p:sp>
      <p:sp>
        <p:nvSpPr>
          <p:cNvPr id="6" name="Rectangle 5">
            <a:extLst>
              <a:ext uri="{FF2B5EF4-FFF2-40B4-BE49-F238E27FC236}">
                <a16:creationId xmlns:a16="http://schemas.microsoft.com/office/drawing/2014/main" id="{3937BCE4-74BB-4558-8224-DBF296C487A8}"/>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Treat and track</a:t>
            </a:r>
          </a:p>
        </p:txBody>
      </p:sp>
      <p:sp>
        <p:nvSpPr>
          <p:cNvPr id="7" name="Rectangle 6">
            <a:extLst>
              <a:ext uri="{FF2B5EF4-FFF2-40B4-BE49-F238E27FC236}">
                <a16:creationId xmlns:a16="http://schemas.microsoft.com/office/drawing/2014/main" id="{01A65F5D-7FA1-4D2D-A0DB-EF2D52558D09}"/>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Start appropriate iron replacement. Monitor clinical status and ensure referral completion.</a:t>
            </a:r>
          </a:p>
        </p:txBody>
      </p:sp>
      <p:sp>
        <p:nvSpPr>
          <p:cNvPr id="8" name="Rectangle 7">
            <a:extLst>
              <a:ext uri="{FF2B5EF4-FFF2-40B4-BE49-F238E27FC236}">
                <a16:creationId xmlns:a16="http://schemas.microsoft.com/office/drawing/2014/main" id="{EB0950EA-E5A4-480A-8E94-0565EDE594BA}"/>
              </a:ext>
            </a:extLst>
          </p:cNvPr>
          <p:cNvSpPr>
            <a:spLocks noGrp="1"/>
          </p:cNvSpPr>
          <p:nvPr/>
        </p:nvSpPr>
        <p:spPr>
          <a:xfrm>
            <a:off x="666750" y="5534025"/>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Improvement in hemoglobin does not establish the source of iron loss.</a:t>
            </a:r>
          </a:p>
        </p:txBody>
      </p:sp>
      <p:sp>
        <p:nvSpPr>
          <p:cNvPr id="9" name="Rectangle 8"/>
          <p:cNvSpPr/>
          <p:nvPr/>
        </p:nvSpPr>
        <p:spPr>
          <a:xfrm>
            <a:off x="7429500" y="5968484"/>
            <a:ext cx="4367478" cy="369332"/>
          </a:xfrm>
          <a:prstGeom prst="rect">
            <a:avLst/>
          </a:prstGeom>
        </p:spPr>
        <p:txBody>
          <a:bodyPr wrap="none">
            <a:spAutoFit/>
          </a:bodyPr>
          <a:lstStyle/>
          <a:p>
            <a:r>
              <a:rPr lang="en-US" dirty="0"/>
              <a:t>AGA iron-deficiency anemia guideline (2020)</a:t>
            </a:r>
          </a:p>
        </p:txBody>
      </p:sp>
      <p:sp>
        <p:nvSpPr>
          <p:cNvPr id="11" name="Rectangle 10"/>
          <p:cNvSpPr/>
          <p:nvPr/>
        </p:nvSpPr>
        <p:spPr>
          <a:xfrm>
            <a:off x="7454586" y="6402943"/>
            <a:ext cx="3689664" cy="369332"/>
          </a:xfrm>
          <a:prstGeom prst="rect">
            <a:avLst/>
          </a:prstGeom>
        </p:spPr>
        <p:txBody>
          <a:bodyPr wrap="none">
            <a:spAutoFit/>
          </a:bodyPr>
          <a:lstStyle/>
          <a:p>
            <a:r>
              <a:rPr lang="en-US" dirty="0"/>
              <a:t>NICE NG12: suspected cancer referral</a:t>
            </a:r>
          </a:p>
        </p:txBody>
      </p:sp>
      <p:pic>
        <p:nvPicPr>
          <p:cNvPr id="12" name="Picture 11"/>
          <p:cNvPicPr>
            <a:picLocks noChangeAspect="1"/>
          </p:cNvPicPr>
          <p:nvPr/>
        </p:nvPicPr>
        <p:blipFill>
          <a:blip r:embed="rId3"/>
          <a:stretch>
            <a:fillRect/>
          </a:stretch>
        </p:blipFill>
        <p:spPr>
          <a:xfrm>
            <a:off x="10384689" y="184872"/>
            <a:ext cx="1519122" cy="1523587"/>
          </a:xfrm>
          <a:prstGeom prst="rect">
            <a:avLst/>
          </a:prstGeom>
        </p:spPr>
      </p:pic>
    </p:spTree>
    <p:extLst>
      <p:ext uri="{BB962C8B-B14F-4D97-AF65-F5344CB8AC3E}">
        <p14:creationId xmlns:p14="http://schemas.microsoft.com/office/powerpoint/2010/main" val="681534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A083F34-BE5C-4624-ABD0-8A5BC796A96D}"/>
              </a:ext>
            </a:extLst>
          </p:cNvPr>
          <p:cNvSpPr>
            <a:spLocks noGrp="1"/>
          </p:cNvSpPr>
          <p:nvPr/>
        </p:nvSpPr>
        <p:spPr>
          <a:xfrm>
            <a:off x="647700" y="428625"/>
            <a:ext cx="10896600" cy="952500"/>
          </a:xfrm>
          <a:prstGeom prst="rect">
            <a:avLst/>
          </a:prstGeom>
          <a:noFill/>
          <a:ln w="0">
            <a:noFill/>
          </a:ln>
        </p:spPr>
        <p:txBody>
          <a:bodyPr>
            <a:noAutofit/>
          </a:bodyPr>
          <a:lstStyle/>
          <a:p>
            <a:pPr algn="ctr">
              <a:buNone/>
              <a:defRPr sz="3225" b="1">
                <a:solidFill>
                  <a:srgbClr val="123B45"/>
                </a:solidFill>
                <a:latin typeface="Bitstream Charter"/>
                <a:ea typeface="Bitstream Charter"/>
                <a:cs typeface="Bitstream Charter"/>
              </a:defRPr>
            </a:pPr>
            <a:r>
              <a:rPr sz="3225" b="1" dirty="0">
                <a:solidFill>
                  <a:srgbClr val="123B45"/>
                </a:solidFill>
                <a:latin typeface="Bitstream Charter"/>
                <a:ea typeface="Bitstream Charter"/>
                <a:cs typeface="Bitstream Charter"/>
              </a:rPr>
              <a:t>A useful gastroenterology referral</a:t>
            </a:r>
          </a:p>
        </p:txBody>
      </p:sp>
      <p:sp>
        <p:nvSpPr>
          <p:cNvPr id="2" name="Rectangle 1">
            <a:extLst>
              <a:ext uri="{FF2B5EF4-FFF2-40B4-BE49-F238E27FC236}">
                <a16:creationId xmlns:a16="http://schemas.microsoft.com/office/drawing/2014/main" id="{9260F905-2D17-43D9-96EF-A4716AEACBD4}"/>
              </a:ext>
            </a:extLst>
          </p:cNvPr>
          <p:cNvSpPr>
            <a:spLocks noGrp="1"/>
          </p:cNvSpPr>
          <p:nvPr/>
        </p:nvSpPr>
        <p:spPr>
          <a:xfrm>
            <a:off x="723900" y="1619250"/>
            <a:ext cx="10553700" cy="762000"/>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a:solidFill>
                  <a:srgbClr val="183640"/>
                </a:solidFill>
                <a:latin typeface="Bitstream Charter"/>
                <a:ea typeface="Bitstream Charter"/>
                <a:cs typeface="Bitstream Charter"/>
              </a:rPr>
              <a:t>The clinical question and requested urgency</a:t>
            </a:r>
          </a:p>
        </p:txBody>
      </p:sp>
      <p:sp>
        <p:nvSpPr>
          <p:cNvPr id="3" name="Rectangle 2">
            <a:extLst>
              <a:ext uri="{FF2B5EF4-FFF2-40B4-BE49-F238E27FC236}">
                <a16:creationId xmlns:a16="http://schemas.microsoft.com/office/drawing/2014/main" id="{AA82105E-06F3-44BE-BD06-ACB87EAB8617}"/>
              </a:ext>
            </a:extLst>
          </p:cNvPr>
          <p:cNvSpPr>
            <a:spLocks noGrp="1"/>
          </p:cNvSpPr>
          <p:nvPr/>
        </p:nvSpPr>
        <p:spPr>
          <a:xfrm>
            <a:off x="723900" y="2105025"/>
            <a:ext cx="10553700" cy="762000"/>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Symptom timeline, weight trend, alarm features and relevant examination</a:t>
            </a:r>
          </a:p>
        </p:txBody>
      </p:sp>
      <p:sp>
        <p:nvSpPr>
          <p:cNvPr id="4" name="Rectangle 3">
            <a:extLst>
              <a:ext uri="{FF2B5EF4-FFF2-40B4-BE49-F238E27FC236}">
                <a16:creationId xmlns:a16="http://schemas.microsoft.com/office/drawing/2014/main" id="{03EBF344-2E88-4E61-8E92-983A73BE5FE1}"/>
              </a:ext>
            </a:extLst>
          </p:cNvPr>
          <p:cNvSpPr>
            <a:spLocks noGrp="1"/>
          </p:cNvSpPr>
          <p:nvPr/>
        </p:nvSpPr>
        <p:spPr>
          <a:xfrm>
            <a:off x="723900" y="2686050"/>
            <a:ext cx="10553700" cy="762000"/>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Laboratory results with dates, imaging and previous endoscopy reports</a:t>
            </a:r>
          </a:p>
        </p:txBody>
      </p:sp>
      <p:sp>
        <p:nvSpPr>
          <p:cNvPr id="5" name="Rectangle 4">
            <a:extLst>
              <a:ext uri="{FF2B5EF4-FFF2-40B4-BE49-F238E27FC236}">
                <a16:creationId xmlns:a16="http://schemas.microsoft.com/office/drawing/2014/main" id="{8DB14C0E-9D4D-4D47-B856-AD766432BA66}"/>
              </a:ext>
            </a:extLst>
          </p:cNvPr>
          <p:cNvSpPr>
            <a:spLocks noGrp="1"/>
          </p:cNvSpPr>
          <p:nvPr/>
        </p:nvSpPr>
        <p:spPr>
          <a:xfrm>
            <a:off x="723900" y="3209925"/>
            <a:ext cx="10553700" cy="762000"/>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Treatment tried, dose, duration, adherence and response</a:t>
            </a:r>
          </a:p>
        </p:txBody>
      </p:sp>
      <p:sp>
        <p:nvSpPr>
          <p:cNvPr id="6" name="Rectangle 5">
            <a:extLst>
              <a:ext uri="{FF2B5EF4-FFF2-40B4-BE49-F238E27FC236}">
                <a16:creationId xmlns:a16="http://schemas.microsoft.com/office/drawing/2014/main" id="{201868F0-2EE9-4BCF-AC4D-842AB6C52A97}"/>
              </a:ext>
            </a:extLst>
          </p:cNvPr>
          <p:cNvSpPr>
            <a:spLocks noGrp="1"/>
          </p:cNvSpPr>
          <p:nvPr/>
        </p:nvSpPr>
        <p:spPr>
          <a:xfrm>
            <a:off x="752856" y="3790950"/>
            <a:ext cx="10553700" cy="762000"/>
          </a:xfrm>
          <a:prstGeom prst="rect">
            <a:avLst/>
          </a:prstGeom>
          <a:noFill/>
          <a:ln w="0">
            <a:noFill/>
          </a:ln>
        </p:spPr>
        <p:txBody>
          <a:bodyPr>
            <a:noAutofit/>
          </a:bodyPr>
          <a:lstStyle/>
          <a:p>
            <a:pPr>
              <a:buNone/>
              <a:defRPr sz="2100" b="0">
                <a:solidFill>
                  <a:srgbClr val="183640"/>
                </a:solidFill>
                <a:latin typeface="Bitstream Charter"/>
                <a:ea typeface="Bitstream Charter"/>
                <a:cs typeface="Bitstream Charter"/>
              </a:defRPr>
            </a:pPr>
            <a:r>
              <a:rPr sz="2100" b="0" dirty="0">
                <a:solidFill>
                  <a:srgbClr val="183640"/>
                </a:solidFill>
                <a:latin typeface="Bitstream Charter"/>
                <a:ea typeface="Bitstream Charter"/>
                <a:cs typeface="Bitstream Charter"/>
              </a:rPr>
              <a:t>Family history, relevant medicines and anticoagulant use</a:t>
            </a:r>
          </a:p>
        </p:txBody>
      </p:sp>
      <p:sp>
        <p:nvSpPr>
          <p:cNvPr id="7" name="Rectangle 6">
            <a:extLst>
              <a:ext uri="{FF2B5EF4-FFF2-40B4-BE49-F238E27FC236}">
                <a16:creationId xmlns:a16="http://schemas.microsoft.com/office/drawing/2014/main" id="{EB1CDB04-3317-49CF-9C41-2FA43466707B}"/>
              </a:ext>
            </a:extLst>
          </p:cNvPr>
          <p:cNvSpPr>
            <a:spLocks noGrp="1"/>
          </p:cNvSpPr>
          <p:nvPr/>
        </p:nvSpPr>
        <p:spPr>
          <a:xfrm>
            <a:off x="790956" y="4967287"/>
            <a:ext cx="10477500" cy="1531049"/>
          </a:xfrm>
          <a:prstGeom prst="rect">
            <a:avLst/>
          </a:prstGeom>
          <a:noFill/>
          <a:ln w="0">
            <a:noFill/>
          </a:ln>
        </p:spPr>
        <p:txBody>
          <a:bodyPr>
            <a:noAutofit/>
          </a:bodyPr>
          <a:lstStyle/>
          <a:p>
            <a:pPr algn="just">
              <a:buNone/>
              <a:defRPr sz="1725" b="1">
                <a:solidFill>
                  <a:srgbClr val="53717B"/>
                </a:solidFill>
                <a:latin typeface="Bitstream Charter"/>
                <a:ea typeface="Bitstream Charter"/>
                <a:cs typeface="Bitstream Charter"/>
              </a:defRPr>
            </a:pPr>
            <a:r>
              <a:rPr sz="1725" b="1" dirty="0" smtClean="0">
                <a:solidFill>
                  <a:srgbClr val="53717B"/>
                </a:solidFill>
                <a:latin typeface="Bitstream Charter"/>
                <a:ea typeface="Bitstream Charter"/>
                <a:cs typeface="Bitstream Charter"/>
              </a:rPr>
              <a:t>Name who will follow outstanding results and confirm that the patient attends.</a:t>
            </a:r>
            <a:endParaRPr lang="en-US" sz="1725" b="1" dirty="0" smtClean="0">
              <a:solidFill>
                <a:srgbClr val="53717B"/>
              </a:solidFill>
              <a:latin typeface="Bitstream Charter"/>
              <a:ea typeface="Bitstream Charter"/>
              <a:cs typeface="Bitstream Charter"/>
            </a:endParaRPr>
          </a:p>
          <a:p>
            <a:pPr algn="just">
              <a:defRPr sz="1725" b="1">
                <a:solidFill>
                  <a:srgbClr val="53717B"/>
                </a:solidFill>
                <a:latin typeface="Bitstream Charter"/>
                <a:ea typeface="Bitstream Charter"/>
                <a:cs typeface="Bitstream Charter"/>
              </a:defRPr>
            </a:pPr>
            <a:r>
              <a:rPr lang="en-US" dirty="0"/>
              <a:t>Suggested referral structure, not a mandated guideline format. Example: “Urgent assessment for unexplained iron-deficiency anemia with new bowel change. Stable 62-year-old man. </a:t>
            </a:r>
            <a:r>
              <a:rPr lang="en-US" dirty="0" err="1"/>
              <a:t>Hb</a:t>
            </a:r>
            <a:r>
              <a:rPr lang="en-US" dirty="0"/>
              <a:t> 9.8 g/</a:t>
            </a:r>
            <a:r>
              <a:rPr lang="en-US" dirty="0" err="1"/>
              <a:t>dL</a:t>
            </a:r>
            <a:r>
              <a:rPr lang="en-US" dirty="0"/>
              <a:t>, ferritin 8 ng/</a:t>
            </a:r>
            <a:r>
              <a:rPr lang="en-US" dirty="0" err="1"/>
              <a:t>mL.</a:t>
            </a:r>
            <a:r>
              <a:rPr lang="en-US" dirty="0"/>
              <a:t> Please assess for upper and lower GI sources.” Include reliable patient contact details in the actual referral. Never include invented identifiers from a teaching case.</a:t>
            </a:r>
          </a:p>
          <a:p>
            <a:pPr algn="just">
              <a:buNone/>
              <a:defRPr sz="1725" b="1">
                <a:solidFill>
                  <a:srgbClr val="53717B"/>
                </a:solidFill>
                <a:latin typeface="Bitstream Charter"/>
                <a:ea typeface="Bitstream Charter"/>
                <a:cs typeface="Bitstream Charter"/>
              </a:defRPr>
            </a:pPr>
            <a:endParaRPr sz="1725" b="1" dirty="0">
              <a:solidFill>
                <a:srgbClr val="53717B"/>
              </a:solidFill>
              <a:latin typeface="Bitstream Charter"/>
              <a:ea typeface="Bitstream Charter"/>
              <a:cs typeface="Bitstream Charter"/>
            </a:endParaRPr>
          </a:p>
        </p:txBody>
      </p:sp>
      <p:pic>
        <p:nvPicPr>
          <p:cNvPr id="8" name="Picture 7"/>
          <p:cNvPicPr>
            <a:picLocks noChangeAspect="1"/>
          </p:cNvPicPr>
          <p:nvPr/>
        </p:nvPicPr>
        <p:blipFill>
          <a:blip r:embed="rId3"/>
          <a:stretch>
            <a:fillRect/>
          </a:stretch>
        </p:blipFill>
        <p:spPr>
          <a:xfrm>
            <a:off x="9973194" y="189084"/>
            <a:ext cx="2072363" cy="968203"/>
          </a:xfrm>
          <a:prstGeom prst="rect">
            <a:avLst/>
          </a:prstGeom>
        </p:spPr>
      </p:pic>
    </p:spTree>
    <p:extLst>
      <p:ext uri="{BB962C8B-B14F-4D97-AF65-F5344CB8AC3E}">
        <p14:creationId xmlns:p14="http://schemas.microsoft.com/office/powerpoint/2010/main" val="444589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11" y="91721"/>
            <a:ext cx="11859577" cy="6674558"/>
          </a:xfrm>
          <a:prstGeom prst="rect">
            <a:avLst/>
          </a:prstGeom>
        </p:spPr>
      </p:pic>
    </p:spTree>
    <p:extLst>
      <p:ext uri="{BB962C8B-B14F-4D97-AF65-F5344CB8AC3E}">
        <p14:creationId xmlns:p14="http://schemas.microsoft.com/office/powerpoint/2010/main" val="1279567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63F0C6-F3D8-471E-9312-84EC8AC99AD4}"/>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dirty="0">
                <a:solidFill>
                  <a:srgbClr val="FFFFFF"/>
                </a:solidFill>
                <a:latin typeface="Bitstream Charter"/>
                <a:ea typeface="Bitstream Charter"/>
                <a:cs typeface="Bitstream Charter"/>
              </a:rPr>
              <a:t>Follow-up and review</a:t>
            </a:r>
          </a:p>
        </p:txBody>
      </p:sp>
      <p:sp>
        <p:nvSpPr>
          <p:cNvPr id="3" name="Rectangle 2">
            <a:extLst>
              <a:ext uri="{FF2B5EF4-FFF2-40B4-BE49-F238E27FC236}">
                <a16:creationId xmlns:a16="http://schemas.microsoft.com/office/drawing/2014/main" id="{EBCB24D3-5FA3-4179-B7DF-8FADA655D882}"/>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Who will check the results and reassess the patient?</a:t>
            </a:r>
          </a:p>
        </p:txBody>
      </p:sp>
      <p:sp>
        <p:nvSpPr>
          <p:cNvPr id="4" name="Rectangle 3">
            <a:extLst>
              <a:ext uri="{FF2B5EF4-FFF2-40B4-BE49-F238E27FC236}">
                <a16:creationId xmlns:a16="http://schemas.microsoft.com/office/drawing/2014/main" id="{AD20A5D5-0E25-43F0-9403-469E097B8ECA}"/>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Follow-up responsibilities and the three main decisions</a:t>
            </a:r>
          </a:p>
        </p:txBody>
      </p:sp>
    </p:spTree>
    <p:extLst>
      <p:ext uri="{BB962C8B-B14F-4D97-AF65-F5344CB8AC3E}">
        <p14:creationId xmlns:p14="http://schemas.microsoft.com/office/powerpoint/2010/main" val="1868169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2E6D8F-AC9B-4B3B-B76E-8FA5A7990E51}"/>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Safety-netting at every decision</a:t>
            </a:r>
          </a:p>
        </p:txBody>
      </p:sp>
      <p:sp>
        <p:nvSpPr>
          <p:cNvPr id="2" name="Rectangle 1">
            <a:extLst>
              <a:ext uri="{FF2B5EF4-FFF2-40B4-BE49-F238E27FC236}">
                <a16:creationId xmlns:a16="http://schemas.microsoft.com/office/drawing/2014/main" id="{9CBDCF88-7552-4D1B-BF63-A16F0F63E109}"/>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A review date</a:t>
            </a:r>
          </a:p>
        </p:txBody>
      </p:sp>
      <p:sp>
        <p:nvSpPr>
          <p:cNvPr id="3" name="Rectangle 2">
            <a:extLst>
              <a:ext uri="{FF2B5EF4-FFF2-40B4-BE49-F238E27FC236}">
                <a16:creationId xmlns:a16="http://schemas.microsoft.com/office/drawing/2014/main" id="{E35821D3-3F79-434F-84A4-A67F02F120EB}"/>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Set a specific follow-up point and the expected treatment response.</a:t>
            </a:r>
          </a:p>
        </p:txBody>
      </p:sp>
      <p:sp>
        <p:nvSpPr>
          <p:cNvPr id="4" name="Rectangle 3">
            <a:extLst>
              <a:ext uri="{FF2B5EF4-FFF2-40B4-BE49-F238E27FC236}">
                <a16:creationId xmlns:a16="http://schemas.microsoft.com/office/drawing/2014/main" id="{7C538843-C571-40AC-AC8F-AAD40D9F9AC8}"/>
              </a:ext>
            </a:extLst>
          </p:cNvPr>
          <p:cNvSpPr>
            <a:spLocks noGrp="1"/>
          </p:cNvSpPr>
          <p:nvPr/>
        </p:nvSpPr>
        <p:spPr>
          <a:xfrm>
            <a:off x="647700" y="24193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An escalation plan</a:t>
            </a:r>
          </a:p>
        </p:txBody>
      </p:sp>
      <p:sp>
        <p:nvSpPr>
          <p:cNvPr id="5" name="Rectangle 4">
            <a:extLst>
              <a:ext uri="{FF2B5EF4-FFF2-40B4-BE49-F238E27FC236}">
                <a16:creationId xmlns:a16="http://schemas.microsoft.com/office/drawing/2014/main" id="{BCF5E481-B23B-408F-A1FB-630ECC7CC873}"/>
              </a:ext>
            </a:extLst>
          </p:cNvPr>
          <p:cNvSpPr>
            <a:spLocks noGrp="1"/>
          </p:cNvSpPr>
          <p:nvPr/>
        </p:nvSpPr>
        <p:spPr>
          <a:xfrm>
            <a:off x="3505200" y="24193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Explain what requires earlier review or immediate emergency care.</a:t>
            </a:r>
          </a:p>
        </p:txBody>
      </p:sp>
      <p:sp>
        <p:nvSpPr>
          <p:cNvPr id="6" name="Rectangle 5">
            <a:extLst>
              <a:ext uri="{FF2B5EF4-FFF2-40B4-BE49-F238E27FC236}">
                <a16:creationId xmlns:a16="http://schemas.microsoft.com/office/drawing/2014/main" id="{934BA985-171F-49C0-8EEA-1A1E5F322900}"/>
              </a:ext>
            </a:extLst>
          </p:cNvPr>
          <p:cNvSpPr>
            <a:spLocks noGrp="1"/>
          </p:cNvSpPr>
          <p:nvPr/>
        </p:nvSpPr>
        <p:spPr>
          <a:xfrm>
            <a:off x="666750" y="332422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dirty="0">
                <a:solidFill>
                  <a:srgbClr val="087D70"/>
                </a:solidFill>
                <a:latin typeface="Bitstream Charter"/>
                <a:ea typeface="Bitstream Charter"/>
                <a:cs typeface="Bitstream Charter"/>
              </a:rPr>
              <a:t>Ownership</a:t>
            </a:r>
          </a:p>
        </p:txBody>
      </p:sp>
      <p:sp>
        <p:nvSpPr>
          <p:cNvPr id="7" name="Rectangle 6">
            <a:extLst>
              <a:ext uri="{FF2B5EF4-FFF2-40B4-BE49-F238E27FC236}">
                <a16:creationId xmlns:a16="http://schemas.microsoft.com/office/drawing/2014/main" id="{D73A400B-5E1B-4B00-8D23-11E7AD8FCE7C}"/>
              </a:ext>
            </a:extLst>
          </p:cNvPr>
          <p:cNvSpPr>
            <a:spLocks noGrp="1"/>
          </p:cNvSpPr>
          <p:nvPr/>
        </p:nvSpPr>
        <p:spPr>
          <a:xfrm>
            <a:off x="3524250" y="332422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Track test results and referrals. Reconsider the diagnosis if symptoms persist.</a:t>
            </a:r>
          </a:p>
        </p:txBody>
      </p:sp>
      <p:sp>
        <p:nvSpPr>
          <p:cNvPr id="8" name="Rectangle 7">
            <a:extLst>
              <a:ext uri="{FF2B5EF4-FFF2-40B4-BE49-F238E27FC236}">
                <a16:creationId xmlns:a16="http://schemas.microsoft.com/office/drawing/2014/main" id="{E076B373-2B0E-4D87-9E4C-2B815D3C27F4}"/>
              </a:ext>
            </a:extLst>
          </p:cNvPr>
          <p:cNvSpPr>
            <a:spLocks noGrp="1"/>
          </p:cNvSpPr>
          <p:nvPr/>
        </p:nvSpPr>
        <p:spPr>
          <a:xfrm>
            <a:off x="647700" y="4719637"/>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“Come back if needed” is not a complete follow-up plan.</a:t>
            </a:r>
          </a:p>
        </p:txBody>
      </p:sp>
      <p:sp>
        <p:nvSpPr>
          <p:cNvPr id="9" name="Rectangle 8"/>
          <p:cNvSpPr/>
          <p:nvPr/>
        </p:nvSpPr>
        <p:spPr>
          <a:xfrm>
            <a:off x="8282289" y="5857088"/>
            <a:ext cx="2439642" cy="369332"/>
          </a:xfrm>
          <a:prstGeom prst="rect">
            <a:avLst/>
          </a:prstGeom>
        </p:spPr>
        <p:txBody>
          <a:bodyPr wrap="none">
            <a:spAutoFit/>
          </a:bodyPr>
          <a:lstStyle/>
          <a:p>
            <a:r>
              <a:rPr lang="en-US" dirty="0"/>
              <a:t>NICE CG61: IBS in adults</a:t>
            </a:r>
          </a:p>
        </p:txBody>
      </p:sp>
      <p:sp>
        <p:nvSpPr>
          <p:cNvPr id="11" name="Rectangle 10"/>
          <p:cNvSpPr/>
          <p:nvPr/>
        </p:nvSpPr>
        <p:spPr>
          <a:xfrm>
            <a:off x="8282289" y="6306621"/>
            <a:ext cx="3689664" cy="369332"/>
          </a:xfrm>
          <a:prstGeom prst="rect">
            <a:avLst/>
          </a:prstGeom>
        </p:spPr>
        <p:txBody>
          <a:bodyPr wrap="none">
            <a:spAutoFit/>
          </a:bodyPr>
          <a:lstStyle/>
          <a:p>
            <a:r>
              <a:rPr lang="en-US" dirty="0"/>
              <a:t>NICE NG12: suspected cancer referral</a:t>
            </a:r>
          </a:p>
        </p:txBody>
      </p:sp>
    </p:spTree>
    <p:extLst>
      <p:ext uri="{BB962C8B-B14F-4D97-AF65-F5344CB8AC3E}">
        <p14:creationId xmlns:p14="http://schemas.microsoft.com/office/powerpoint/2010/main" val="1127197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057689-4561-4D5A-A5DB-AE96C05A7916}"/>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The three cases: the next action</a:t>
            </a:r>
          </a:p>
        </p:txBody>
      </p:sp>
      <p:sp>
        <p:nvSpPr>
          <p:cNvPr id="2" name="Rectangle 1">
            <a:extLst>
              <a:ext uri="{FF2B5EF4-FFF2-40B4-BE49-F238E27FC236}">
                <a16:creationId xmlns:a16="http://schemas.microsoft.com/office/drawing/2014/main" id="{9A7FFB13-1EF1-45A7-BF70-A450D18A4CDD}"/>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TREAT</a:t>
            </a:r>
          </a:p>
        </p:txBody>
      </p:sp>
      <p:sp>
        <p:nvSpPr>
          <p:cNvPr id="3" name="Rectangle 2">
            <a:extLst>
              <a:ext uri="{FF2B5EF4-FFF2-40B4-BE49-F238E27FC236}">
                <a16:creationId xmlns:a16="http://schemas.microsoft.com/office/drawing/2014/main" id="{65D6B6BC-C494-453D-B070-1331B876C9CB}"/>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Typical uncomplicated reflux: a defined PPI trial, lifestyle advice and review.</a:t>
            </a:r>
          </a:p>
        </p:txBody>
      </p:sp>
      <p:sp>
        <p:nvSpPr>
          <p:cNvPr id="4" name="Rectangle 3">
            <a:extLst>
              <a:ext uri="{FF2B5EF4-FFF2-40B4-BE49-F238E27FC236}">
                <a16:creationId xmlns:a16="http://schemas.microsoft.com/office/drawing/2014/main" id="{A777CDD4-25F8-45FC-AAD4-2094BC8C05C5}"/>
              </a:ext>
            </a:extLst>
          </p:cNvPr>
          <p:cNvSpPr>
            <a:spLocks noGrp="1"/>
          </p:cNvSpPr>
          <p:nvPr/>
        </p:nvSpPr>
        <p:spPr>
          <a:xfrm>
            <a:off x="647700" y="26329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INVESTIGATE</a:t>
            </a:r>
          </a:p>
        </p:txBody>
      </p:sp>
      <p:sp>
        <p:nvSpPr>
          <p:cNvPr id="5" name="Rectangle 4">
            <a:extLst>
              <a:ext uri="{FF2B5EF4-FFF2-40B4-BE49-F238E27FC236}">
                <a16:creationId xmlns:a16="http://schemas.microsoft.com/office/drawing/2014/main" id="{1286F3D0-32BD-48D3-9B84-D5ABE19CB59E}"/>
              </a:ext>
            </a:extLst>
          </p:cNvPr>
          <p:cNvSpPr>
            <a:spLocks noGrp="1"/>
          </p:cNvSpPr>
          <p:nvPr/>
        </p:nvSpPr>
        <p:spPr>
          <a:xfrm>
            <a:off x="3505200" y="26329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dirty="0">
                <a:solidFill>
                  <a:srgbClr val="183640"/>
                </a:solidFill>
                <a:latin typeface="Bitstream Charter"/>
                <a:ea typeface="Bitstream Charter"/>
                <a:cs typeface="Bitstream Charter"/>
              </a:rPr>
              <a:t>Stable persistent watery diarrhea: targeted tests, then act on the results.</a:t>
            </a:r>
          </a:p>
        </p:txBody>
      </p:sp>
      <p:sp>
        <p:nvSpPr>
          <p:cNvPr id="6" name="Rectangle 5">
            <a:extLst>
              <a:ext uri="{FF2B5EF4-FFF2-40B4-BE49-F238E27FC236}">
                <a16:creationId xmlns:a16="http://schemas.microsoft.com/office/drawing/2014/main" id="{C7D0D6F3-383B-4ABC-AFB8-F89132E5E99A}"/>
              </a:ext>
            </a:extLst>
          </p:cNvPr>
          <p:cNvSpPr>
            <a:spLocks noGrp="1"/>
          </p:cNvSpPr>
          <p:nvPr/>
        </p:nvSpPr>
        <p:spPr>
          <a:xfrm>
            <a:off x="647700" y="36465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REFER</a:t>
            </a:r>
          </a:p>
        </p:txBody>
      </p:sp>
      <p:sp>
        <p:nvSpPr>
          <p:cNvPr id="7" name="Rectangle 6">
            <a:extLst>
              <a:ext uri="{FF2B5EF4-FFF2-40B4-BE49-F238E27FC236}">
                <a16:creationId xmlns:a16="http://schemas.microsoft.com/office/drawing/2014/main" id="{B8A9F13F-0631-4482-A13C-8A10DB295EED}"/>
              </a:ext>
            </a:extLst>
          </p:cNvPr>
          <p:cNvSpPr>
            <a:spLocks noGrp="1"/>
          </p:cNvSpPr>
          <p:nvPr/>
        </p:nvSpPr>
        <p:spPr>
          <a:xfrm>
            <a:off x="3505200" y="36465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Unexplained iron-deficiency anemia with bowel change: expedited etiologic assessment.</a:t>
            </a:r>
          </a:p>
        </p:txBody>
      </p:sp>
      <p:sp>
        <p:nvSpPr>
          <p:cNvPr id="8" name="Rectangle 7">
            <a:extLst>
              <a:ext uri="{FF2B5EF4-FFF2-40B4-BE49-F238E27FC236}">
                <a16:creationId xmlns:a16="http://schemas.microsoft.com/office/drawing/2014/main" id="{85923869-5D5C-4B03-AF8F-5F96A9BDEB1A}"/>
              </a:ext>
            </a:extLst>
          </p:cNvPr>
          <p:cNvSpPr>
            <a:spLocks noGrp="1"/>
          </p:cNvSpPr>
          <p:nvPr/>
        </p:nvSpPr>
        <p:spPr>
          <a:xfrm>
            <a:off x="666750" y="4713350"/>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Instability or acute severe illness always takes priority over the outpatient plan.</a:t>
            </a:r>
          </a:p>
        </p:txBody>
      </p:sp>
      <p:sp>
        <p:nvSpPr>
          <p:cNvPr id="9" name="Rectangle 8"/>
          <p:cNvSpPr/>
          <p:nvPr/>
        </p:nvSpPr>
        <p:spPr>
          <a:xfrm>
            <a:off x="7729112" y="5332475"/>
            <a:ext cx="2740943" cy="369332"/>
          </a:xfrm>
          <a:prstGeom prst="rect">
            <a:avLst/>
          </a:prstGeom>
        </p:spPr>
        <p:txBody>
          <a:bodyPr wrap="none">
            <a:spAutoFit/>
          </a:bodyPr>
          <a:lstStyle/>
          <a:p>
            <a:r>
              <a:rPr lang="en-US" dirty="0"/>
              <a:t>ACG GERD guideline (2022)</a:t>
            </a:r>
          </a:p>
        </p:txBody>
      </p:sp>
      <p:sp>
        <p:nvSpPr>
          <p:cNvPr id="11" name="Rectangle 10"/>
          <p:cNvSpPr/>
          <p:nvPr/>
        </p:nvSpPr>
        <p:spPr>
          <a:xfrm>
            <a:off x="7729112" y="5711446"/>
            <a:ext cx="4462888" cy="369332"/>
          </a:xfrm>
          <a:prstGeom prst="rect">
            <a:avLst/>
          </a:prstGeom>
        </p:spPr>
        <p:txBody>
          <a:bodyPr wrap="none">
            <a:spAutoFit/>
          </a:bodyPr>
          <a:lstStyle/>
          <a:p>
            <a:r>
              <a:rPr lang="en-US" dirty="0"/>
              <a:t>AGA chronic watery diarrhea guideline (2019)</a:t>
            </a:r>
          </a:p>
        </p:txBody>
      </p:sp>
      <p:sp>
        <p:nvSpPr>
          <p:cNvPr id="12" name="Rectangle 11"/>
          <p:cNvSpPr/>
          <p:nvPr/>
        </p:nvSpPr>
        <p:spPr>
          <a:xfrm>
            <a:off x="7729112" y="6090417"/>
            <a:ext cx="4367478" cy="369332"/>
          </a:xfrm>
          <a:prstGeom prst="rect">
            <a:avLst/>
          </a:prstGeom>
        </p:spPr>
        <p:txBody>
          <a:bodyPr wrap="none">
            <a:spAutoFit/>
          </a:bodyPr>
          <a:lstStyle/>
          <a:p>
            <a:r>
              <a:rPr lang="en-US" dirty="0"/>
              <a:t>AGA iron-deficiency anemia guideline (2020)</a:t>
            </a:r>
          </a:p>
        </p:txBody>
      </p:sp>
      <p:sp>
        <p:nvSpPr>
          <p:cNvPr id="13" name="Rectangle 12"/>
          <p:cNvSpPr/>
          <p:nvPr/>
        </p:nvSpPr>
        <p:spPr>
          <a:xfrm>
            <a:off x="7729112" y="6469389"/>
            <a:ext cx="3668248" cy="369332"/>
          </a:xfrm>
          <a:prstGeom prst="rect">
            <a:avLst/>
          </a:prstGeom>
        </p:spPr>
        <p:txBody>
          <a:bodyPr wrap="none">
            <a:spAutoFit/>
          </a:bodyPr>
          <a:lstStyle/>
          <a:p>
            <a:r>
              <a:rPr lang="nb-NO" dirty="0"/>
              <a:t>NICE CG141: acute upper GI bleeding</a:t>
            </a:r>
          </a:p>
        </p:txBody>
      </p:sp>
    </p:spTree>
    <p:extLst>
      <p:ext uri="{BB962C8B-B14F-4D97-AF65-F5344CB8AC3E}">
        <p14:creationId xmlns:p14="http://schemas.microsoft.com/office/powerpoint/2010/main" val="1119018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23" y="81429"/>
            <a:ext cx="11896153" cy="6695142"/>
          </a:xfrm>
          <a:prstGeom prst="rect">
            <a:avLst/>
          </a:prstGeom>
        </p:spPr>
      </p:pic>
    </p:spTree>
    <p:extLst>
      <p:ext uri="{BB962C8B-B14F-4D97-AF65-F5344CB8AC3E}">
        <p14:creationId xmlns:p14="http://schemas.microsoft.com/office/powerpoint/2010/main" val="4204859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23B4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B681B1-4FC3-4759-BC1F-11527A996E7C}"/>
              </a:ext>
            </a:extLst>
          </p:cNvPr>
          <p:cNvSpPr>
            <a:spLocks noGrp="1"/>
          </p:cNvSpPr>
          <p:nvPr/>
        </p:nvSpPr>
        <p:spPr>
          <a:xfrm>
            <a:off x="762000" y="1857375"/>
            <a:ext cx="10477500" cy="1143000"/>
          </a:xfrm>
          <a:prstGeom prst="rect">
            <a:avLst/>
          </a:prstGeom>
          <a:noFill/>
          <a:ln w="0">
            <a:noFill/>
          </a:ln>
        </p:spPr>
        <p:txBody>
          <a:bodyPr>
            <a:noAutofit/>
          </a:bodyPr>
          <a:lstStyle/>
          <a:p>
            <a:pPr algn="ctr">
              <a:defRPr sz="4200" b="1">
                <a:solidFill>
                  <a:srgbClr val="FFFFFF"/>
                </a:solidFill>
                <a:latin typeface="Bitstream Charter"/>
                <a:ea typeface="Bitstream Charter"/>
                <a:cs typeface="Bitstream Charter"/>
              </a:defRPr>
            </a:pPr>
            <a:r>
              <a:rPr sz="4200" b="1" dirty="0">
                <a:solidFill>
                  <a:srgbClr val="FFFFFF"/>
                </a:solidFill>
                <a:latin typeface="Bitstream Charter"/>
                <a:ea typeface="Bitstream Charter"/>
                <a:cs typeface="Bitstream Charter"/>
              </a:rPr>
              <a:t>Additional clinical guidance</a:t>
            </a:r>
          </a:p>
        </p:txBody>
      </p:sp>
      <p:sp>
        <p:nvSpPr>
          <p:cNvPr id="3" name="Rectangle 2">
            <a:extLst>
              <a:ext uri="{FF2B5EF4-FFF2-40B4-BE49-F238E27FC236}">
                <a16:creationId xmlns:a16="http://schemas.microsoft.com/office/drawing/2014/main" id="{E20BD30B-E00D-47D3-9FED-EA0BAA8C6238}"/>
              </a:ext>
            </a:extLst>
          </p:cNvPr>
          <p:cNvSpPr>
            <a:spLocks noGrp="1"/>
          </p:cNvSpPr>
          <p:nvPr/>
        </p:nvSpPr>
        <p:spPr>
          <a:xfrm>
            <a:off x="762000" y="3381375"/>
            <a:ext cx="10477500" cy="1047750"/>
          </a:xfrm>
          <a:prstGeom prst="rect">
            <a:avLst/>
          </a:prstGeom>
          <a:noFill/>
          <a:ln w="0">
            <a:noFill/>
          </a:ln>
        </p:spPr>
        <p:txBody>
          <a:bodyPr>
            <a:noAutofit/>
          </a:bodyPr>
          <a:lstStyle/>
          <a:p>
            <a:pPr>
              <a:defRPr sz="2550" b="0">
                <a:solidFill>
                  <a:srgbClr val="FFFFFF"/>
                </a:solidFill>
                <a:latin typeface="Bitstream Charter"/>
                <a:ea typeface="Bitstream Charter"/>
                <a:cs typeface="Bitstream Charter"/>
              </a:defRPr>
            </a:pPr>
            <a:r>
              <a:rPr sz="2550" b="0">
                <a:solidFill>
                  <a:srgbClr val="FFFFFF"/>
                </a:solidFill>
                <a:latin typeface="Bitstream Charter"/>
                <a:ea typeface="Bitstream Charter"/>
                <a:cs typeface="Bitstream Charter"/>
              </a:rPr>
              <a:t>Dyspepsia and H. pylori</a:t>
            </a:r>
          </a:p>
        </p:txBody>
      </p:sp>
      <p:sp>
        <p:nvSpPr>
          <p:cNvPr id="4" name="Rectangle 3">
            <a:extLst>
              <a:ext uri="{FF2B5EF4-FFF2-40B4-BE49-F238E27FC236}">
                <a16:creationId xmlns:a16="http://schemas.microsoft.com/office/drawing/2014/main" id="{85BC2ECC-728C-44C1-99E5-EE06D5BAD276}"/>
              </a:ext>
            </a:extLst>
          </p:cNvPr>
          <p:cNvSpPr>
            <a:spLocks noGrp="1"/>
          </p:cNvSpPr>
          <p:nvPr/>
        </p:nvSpPr>
        <p:spPr>
          <a:xfrm>
            <a:off x="762000" y="5095875"/>
            <a:ext cx="10477500" cy="904875"/>
          </a:xfrm>
          <a:prstGeom prst="rect">
            <a:avLst/>
          </a:prstGeom>
          <a:noFill/>
          <a:ln w="0">
            <a:noFill/>
          </a:ln>
        </p:spPr>
        <p:txBody>
          <a:bodyPr>
            <a:noAutofit/>
          </a:bodyPr>
          <a:lstStyle/>
          <a:p>
            <a:pPr>
              <a:defRPr sz="1875" b="0">
                <a:solidFill>
                  <a:srgbClr val="7EE1D1"/>
                </a:solidFill>
                <a:latin typeface="Bitstream Charter"/>
                <a:ea typeface="Bitstream Charter"/>
                <a:cs typeface="Bitstream Charter"/>
              </a:defRPr>
            </a:pPr>
            <a:r>
              <a:rPr sz="1875" b="0">
                <a:solidFill>
                  <a:srgbClr val="7EE1D1"/>
                </a:solidFill>
                <a:latin typeface="Bitstream Charter"/>
                <a:ea typeface="Bitstream Charter"/>
                <a:cs typeface="Bitstream Charter"/>
              </a:rPr>
              <a:t>Optional material after the main talk, followed by references</a:t>
            </a:r>
          </a:p>
        </p:txBody>
      </p:sp>
    </p:spTree>
    <p:extLst>
      <p:ext uri="{BB962C8B-B14F-4D97-AF65-F5344CB8AC3E}">
        <p14:creationId xmlns:p14="http://schemas.microsoft.com/office/powerpoint/2010/main" val="610387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4B8D66-12D3-4722-8852-2C8E60AD14A6}"/>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Dyspepsia: initial investigation</a:t>
            </a:r>
          </a:p>
        </p:txBody>
      </p:sp>
      <p:sp>
        <p:nvSpPr>
          <p:cNvPr id="2" name="Rectangle 1">
            <a:extLst>
              <a:ext uri="{FF2B5EF4-FFF2-40B4-BE49-F238E27FC236}">
                <a16:creationId xmlns:a16="http://schemas.microsoft.com/office/drawing/2014/main" id="{D949DFE8-3667-44AC-8E39-A902748455D8}"/>
              </a:ext>
            </a:extLst>
          </p:cNvPr>
          <p:cNvSpPr>
            <a:spLocks noGrp="1"/>
          </p:cNvSpPr>
          <p:nvPr/>
        </p:nvSpPr>
        <p:spPr>
          <a:xfrm>
            <a:off x="723900" y="1619250"/>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a:solidFill>
                  <a:srgbClr val="183640"/>
                </a:solidFill>
                <a:latin typeface="Bitstream Charter"/>
                <a:ea typeface="Bitstream Charter"/>
                <a:cs typeface="Bitstream Charter"/>
              </a:rPr>
              <a:t>For lower-risk patients under 60: noninvasive H. pylori testing and treatment if positive.</a:t>
            </a:r>
          </a:p>
        </p:txBody>
      </p:sp>
      <p:sp>
        <p:nvSpPr>
          <p:cNvPr id="3" name="Rectangle 2">
            <a:extLst>
              <a:ext uri="{FF2B5EF4-FFF2-40B4-BE49-F238E27FC236}">
                <a16:creationId xmlns:a16="http://schemas.microsoft.com/office/drawing/2014/main" id="{AE41F6AC-AA2E-4BDA-8C87-D226BB0BC9D2}"/>
              </a:ext>
            </a:extLst>
          </p:cNvPr>
          <p:cNvSpPr>
            <a:spLocks noGrp="1"/>
          </p:cNvSpPr>
          <p:nvPr/>
        </p:nvSpPr>
        <p:spPr>
          <a:xfrm>
            <a:off x="723900" y="2557653"/>
            <a:ext cx="10553700" cy="504444"/>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Use a urea breath test or stool antigen test for active infection.</a:t>
            </a:r>
          </a:p>
        </p:txBody>
      </p:sp>
      <p:sp>
        <p:nvSpPr>
          <p:cNvPr id="4" name="Rectangle 3">
            <a:extLst>
              <a:ext uri="{FF2B5EF4-FFF2-40B4-BE49-F238E27FC236}">
                <a16:creationId xmlns:a16="http://schemas.microsoft.com/office/drawing/2014/main" id="{6863A9E5-C35C-4788-9B25-4A76FDD2842C}"/>
              </a:ext>
            </a:extLst>
          </p:cNvPr>
          <p:cNvSpPr>
            <a:spLocks noGrp="1"/>
          </p:cNvSpPr>
          <p:nvPr/>
        </p:nvSpPr>
        <p:spPr>
          <a:xfrm>
            <a:off x="723900" y="3224022"/>
            <a:ext cx="10553700" cy="847725"/>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New dyspepsia at age 60 or older generally warrants endoscopy under ACG/CAG guidance.</a:t>
            </a:r>
          </a:p>
        </p:txBody>
      </p:sp>
      <p:sp>
        <p:nvSpPr>
          <p:cNvPr id="5" name="Rectangle 4">
            <a:extLst>
              <a:ext uri="{FF2B5EF4-FFF2-40B4-BE49-F238E27FC236}">
                <a16:creationId xmlns:a16="http://schemas.microsoft.com/office/drawing/2014/main" id="{B08A3480-4E0D-4771-9384-48576690AC8C}"/>
              </a:ext>
            </a:extLst>
          </p:cNvPr>
          <p:cNvSpPr>
            <a:spLocks noGrp="1"/>
          </p:cNvSpPr>
          <p:nvPr/>
        </p:nvSpPr>
        <p:spPr>
          <a:xfrm>
            <a:off x="723900" y="4172712"/>
            <a:ext cx="10553700" cy="952500"/>
          </a:xfrm>
          <a:prstGeom prst="rect">
            <a:avLst/>
          </a:prstGeom>
          <a:noFill/>
          <a:ln w="0">
            <a:noFill/>
          </a:ln>
        </p:spPr>
        <p:txBody>
          <a:bodyPr>
            <a:noAutofit/>
          </a:bodyPr>
          <a:lstStyle/>
          <a:p>
            <a:pPr>
              <a:buNone/>
              <a:defRPr sz="2250" b="0">
                <a:solidFill>
                  <a:srgbClr val="183640"/>
                </a:solidFill>
                <a:latin typeface="Bitstream Charter"/>
                <a:ea typeface="Bitstream Charter"/>
                <a:cs typeface="Bitstream Charter"/>
              </a:defRPr>
            </a:pPr>
            <a:r>
              <a:rPr sz="2250" b="0" dirty="0">
                <a:solidFill>
                  <a:srgbClr val="183640"/>
                </a:solidFill>
                <a:latin typeface="Bitstream Charter"/>
                <a:ea typeface="Bitstream Charter"/>
                <a:cs typeface="Bitstream Charter"/>
              </a:rPr>
              <a:t>Consider earlier endoscopy for elevated gastric cancer risk or concerning features.</a:t>
            </a:r>
          </a:p>
        </p:txBody>
      </p:sp>
      <p:sp>
        <p:nvSpPr>
          <p:cNvPr id="6" name="Rectangle 5">
            <a:extLst>
              <a:ext uri="{FF2B5EF4-FFF2-40B4-BE49-F238E27FC236}">
                <a16:creationId xmlns:a16="http://schemas.microsoft.com/office/drawing/2014/main" id="{E971BD43-F078-4494-8189-9DCBE8754E86}"/>
              </a:ext>
            </a:extLst>
          </p:cNvPr>
          <p:cNvSpPr>
            <a:spLocks noGrp="1"/>
          </p:cNvSpPr>
          <p:nvPr/>
        </p:nvSpPr>
        <p:spPr>
          <a:xfrm>
            <a:off x="647700" y="5226177"/>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The age threshold is guideline-specific. Follow the local cancer pathway.</a:t>
            </a:r>
          </a:p>
        </p:txBody>
      </p:sp>
      <p:sp>
        <p:nvSpPr>
          <p:cNvPr id="7" name="Rectangle 6"/>
          <p:cNvSpPr/>
          <p:nvPr/>
        </p:nvSpPr>
        <p:spPr>
          <a:xfrm>
            <a:off x="8291927" y="6001226"/>
            <a:ext cx="3630481" cy="369332"/>
          </a:xfrm>
          <a:prstGeom prst="rect">
            <a:avLst/>
          </a:prstGeom>
        </p:spPr>
        <p:txBody>
          <a:bodyPr wrap="none">
            <a:spAutoFit/>
          </a:bodyPr>
          <a:lstStyle/>
          <a:p>
            <a:r>
              <a:rPr lang="en-US" dirty="0"/>
              <a:t>ACG/CAG dyspepsia guideline (2017)</a:t>
            </a:r>
          </a:p>
        </p:txBody>
      </p:sp>
      <p:sp>
        <p:nvSpPr>
          <p:cNvPr id="9" name="Rectangle 8"/>
          <p:cNvSpPr/>
          <p:nvPr/>
        </p:nvSpPr>
        <p:spPr>
          <a:xfrm>
            <a:off x="8291926" y="6379702"/>
            <a:ext cx="3630481" cy="369332"/>
          </a:xfrm>
          <a:prstGeom prst="rect">
            <a:avLst/>
          </a:prstGeom>
        </p:spPr>
        <p:txBody>
          <a:bodyPr wrap="none">
            <a:spAutoFit/>
          </a:bodyPr>
          <a:lstStyle/>
          <a:p>
            <a:r>
              <a:rPr lang="en-US" dirty="0"/>
              <a:t>ACG/CAG dyspepsia guideline (2017)</a:t>
            </a:r>
          </a:p>
        </p:txBody>
      </p:sp>
      <p:pic>
        <p:nvPicPr>
          <p:cNvPr id="10" name="Picture 9"/>
          <p:cNvPicPr>
            <a:picLocks noChangeAspect="1"/>
          </p:cNvPicPr>
          <p:nvPr/>
        </p:nvPicPr>
        <p:blipFill>
          <a:blip r:embed="rId3"/>
          <a:stretch>
            <a:fillRect/>
          </a:stretch>
        </p:blipFill>
        <p:spPr>
          <a:xfrm>
            <a:off x="10860519" y="136008"/>
            <a:ext cx="1061888" cy="1321317"/>
          </a:xfrm>
          <a:prstGeom prst="rect">
            <a:avLst/>
          </a:prstGeom>
        </p:spPr>
      </p:pic>
    </p:spTree>
    <p:extLst>
      <p:ext uri="{BB962C8B-B14F-4D97-AF65-F5344CB8AC3E}">
        <p14:creationId xmlns:p14="http://schemas.microsoft.com/office/powerpoint/2010/main" val="1167584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4D572C-9A20-4048-839E-874C965FB726}"/>
              </a:ext>
            </a:extLst>
          </p:cNvPr>
          <p:cNvSpPr>
            <a:spLocks noGrp="1"/>
          </p:cNvSpPr>
          <p:nvPr/>
        </p:nvSpPr>
        <p:spPr>
          <a:xfrm>
            <a:off x="647700" y="428625"/>
            <a:ext cx="10896600" cy="952500"/>
          </a:xfrm>
          <a:prstGeom prst="rect">
            <a:avLst/>
          </a:prstGeom>
          <a:noFill/>
          <a:ln w="0">
            <a:noFill/>
          </a:ln>
        </p:spPr>
        <p:txBody>
          <a:bodyPr>
            <a:noAutofit/>
          </a:bodyPr>
          <a:lstStyle/>
          <a:p>
            <a:pPr>
              <a:buNone/>
              <a:defRPr sz="3225" b="1">
                <a:solidFill>
                  <a:srgbClr val="123B45"/>
                </a:solidFill>
                <a:latin typeface="Bitstream Charter"/>
                <a:ea typeface="Bitstream Charter"/>
                <a:cs typeface="Bitstream Charter"/>
              </a:defRPr>
            </a:pPr>
            <a:r>
              <a:rPr sz="3225" b="1">
                <a:solidFill>
                  <a:srgbClr val="123B45"/>
                </a:solidFill>
                <a:latin typeface="Bitstream Charter"/>
                <a:ea typeface="Bitstream Charter"/>
                <a:cs typeface="Bitstream Charter"/>
              </a:rPr>
              <a:t>H. pylori: treatment includes proof of cure</a:t>
            </a:r>
          </a:p>
        </p:txBody>
      </p:sp>
      <p:sp>
        <p:nvSpPr>
          <p:cNvPr id="2" name="Rectangle 1">
            <a:extLst>
              <a:ext uri="{FF2B5EF4-FFF2-40B4-BE49-F238E27FC236}">
                <a16:creationId xmlns:a16="http://schemas.microsoft.com/office/drawing/2014/main" id="{D3FF2052-7A9D-4332-AD2A-D6A22B9796DB}"/>
              </a:ext>
            </a:extLst>
          </p:cNvPr>
          <p:cNvSpPr>
            <a:spLocks noGrp="1"/>
          </p:cNvSpPr>
          <p:nvPr/>
        </p:nvSpPr>
        <p:spPr>
          <a:xfrm>
            <a:off x="666750" y="161925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Choose an effective regimen</a:t>
            </a:r>
          </a:p>
        </p:txBody>
      </p:sp>
      <p:sp>
        <p:nvSpPr>
          <p:cNvPr id="3" name="Rectangle 2">
            <a:extLst>
              <a:ext uri="{FF2B5EF4-FFF2-40B4-BE49-F238E27FC236}">
                <a16:creationId xmlns:a16="http://schemas.microsoft.com/office/drawing/2014/main" id="{8B1FF083-11CA-4E3F-8520-850EE1DB3AD0}"/>
              </a:ext>
            </a:extLst>
          </p:cNvPr>
          <p:cNvSpPr>
            <a:spLocks noGrp="1"/>
          </p:cNvSpPr>
          <p:nvPr/>
        </p:nvSpPr>
        <p:spPr>
          <a:xfrm>
            <a:off x="3524250" y="161925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Use local resistance guidance, prior antibiotic exposure, allergies and availability.</a:t>
            </a:r>
          </a:p>
        </p:txBody>
      </p:sp>
      <p:sp>
        <p:nvSpPr>
          <p:cNvPr id="4" name="Rectangle 3">
            <a:extLst>
              <a:ext uri="{FF2B5EF4-FFF2-40B4-BE49-F238E27FC236}">
                <a16:creationId xmlns:a16="http://schemas.microsoft.com/office/drawing/2014/main" id="{7B67C909-FB6D-4E76-BF25-407F76D77D4C}"/>
              </a:ext>
            </a:extLst>
          </p:cNvPr>
          <p:cNvSpPr>
            <a:spLocks noGrp="1"/>
          </p:cNvSpPr>
          <p:nvPr/>
        </p:nvSpPr>
        <p:spPr>
          <a:xfrm>
            <a:off x="666750" y="2924175"/>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Avoid a common error</a:t>
            </a:r>
          </a:p>
        </p:txBody>
      </p:sp>
      <p:sp>
        <p:nvSpPr>
          <p:cNvPr id="5" name="Rectangle 4">
            <a:extLst>
              <a:ext uri="{FF2B5EF4-FFF2-40B4-BE49-F238E27FC236}">
                <a16:creationId xmlns:a16="http://schemas.microsoft.com/office/drawing/2014/main" id="{FA4795A0-F430-4E78-AC40-E898E314EB48}"/>
              </a:ext>
            </a:extLst>
          </p:cNvPr>
          <p:cNvSpPr>
            <a:spLocks noGrp="1"/>
          </p:cNvSpPr>
          <p:nvPr/>
        </p:nvSpPr>
        <p:spPr>
          <a:xfrm>
            <a:off x="3524250" y="2924175"/>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Do not use empiric clarithromycin triple therapy without proven susceptibility.</a:t>
            </a:r>
          </a:p>
        </p:txBody>
      </p:sp>
      <p:sp>
        <p:nvSpPr>
          <p:cNvPr id="6" name="Rectangle 5">
            <a:extLst>
              <a:ext uri="{FF2B5EF4-FFF2-40B4-BE49-F238E27FC236}">
                <a16:creationId xmlns:a16="http://schemas.microsoft.com/office/drawing/2014/main" id="{6918AE28-DC4A-4F70-AA78-65ADB38D6211}"/>
              </a:ext>
            </a:extLst>
          </p:cNvPr>
          <p:cNvSpPr>
            <a:spLocks noGrp="1"/>
          </p:cNvSpPr>
          <p:nvPr/>
        </p:nvSpPr>
        <p:spPr>
          <a:xfrm>
            <a:off x="666750" y="4229100"/>
            <a:ext cx="2714625" cy="1000125"/>
          </a:xfrm>
          <a:prstGeom prst="rect">
            <a:avLst/>
          </a:prstGeom>
          <a:noFill/>
          <a:ln w="0">
            <a:noFill/>
          </a:ln>
        </p:spPr>
        <p:txBody>
          <a:bodyPr>
            <a:noAutofit/>
          </a:bodyPr>
          <a:lstStyle/>
          <a:p>
            <a:pPr>
              <a:buNone/>
              <a:defRPr sz="2025" b="1">
                <a:solidFill>
                  <a:srgbClr val="087D70"/>
                </a:solidFill>
                <a:latin typeface="Bitstream Charter"/>
                <a:ea typeface="Bitstream Charter"/>
                <a:cs typeface="Bitstream Charter"/>
              </a:defRPr>
            </a:pPr>
            <a:r>
              <a:rPr sz="2025" b="1">
                <a:solidFill>
                  <a:srgbClr val="087D70"/>
                </a:solidFill>
                <a:latin typeface="Bitstream Charter"/>
                <a:ea typeface="Bitstream Charter"/>
                <a:cs typeface="Bitstream Charter"/>
              </a:rPr>
              <a:t>Confirm eradication</a:t>
            </a:r>
          </a:p>
        </p:txBody>
      </p:sp>
      <p:sp>
        <p:nvSpPr>
          <p:cNvPr id="7" name="Rectangle 6">
            <a:extLst>
              <a:ext uri="{FF2B5EF4-FFF2-40B4-BE49-F238E27FC236}">
                <a16:creationId xmlns:a16="http://schemas.microsoft.com/office/drawing/2014/main" id="{BEBB44F0-C232-4415-8D27-418FCA329922}"/>
              </a:ext>
            </a:extLst>
          </p:cNvPr>
          <p:cNvSpPr>
            <a:spLocks noGrp="1"/>
          </p:cNvSpPr>
          <p:nvPr/>
        </p:nvSpPr>
        <p:spPr>
          <a:xfrm>
            <a:off x="3524250" y="4229100"/>
            <a:ext cx="7810500" cy="1066800"/>
          </a:xfrm>
          <a:prstGeom prst="rect">
            <a:avLst/>
          </a:prstGeom>
          <a:noFill/>
          <a:ln w="0">
            <a:noFill/>
          </a:ln>
        </p:spPr>
        <p:txBody>
          <a:bodyPr>
            <a:noAutofit/>
          </a:bodyPr>
          <a:lstStyle/>
          <a:p>
            <a:pPr>
              <a:buNone/>
              <a:defRPr sz="2175" b="0">
                <a:solidFill>
                  <a:srgbClr val="183640"/>
                </a:solidFill>
                <a:latin typeface="Bitstream Charter"/>
                <a:ea typeface="Bitstream Charter"/>
                <a:cs typeface="Bitstream Charter"/>
              </a:defRPr>
            </a:pPr>
            <a:r>
              <a:rPr sz="2175" b="0">
                <a:solidFill>
                  <a:srgbClr val="183640"/>
                </a:solidFill>
                <a:latin typeface="Bitstream Charter"/>
                <a:ea typeface="Bitstream Charter"/>
                <a:cs typeface="Bitstream Charter"/>
              </a:rPr>
              <a:t>Breath or stool antigen testing at least 4 weeks after treatment. Hold PPI for 2 weeks.</a:t>
            </a:r>
          </a:p>
        </p:txBody>
      </p:sp>
      <p:sp>
        <p:nvSpPr>
          <p:cNvPr id="8" name="Rectangle 7">
            <a:extLst>
              <a:ext uri="{FF2B5EF4-FFF2-40B4-BE49-F238E27FC236}">
                <a16:creationId xmlns:a16="http://schemas.microsoft.com/office/drawing/2014/main" id="{40AD9999-DED8-4967-87BD-B480139BC209}"/>
              </a:ext>
            </a:extLst>
          </p:cNvPr>
          <p:cNvSpPr>
            <a:spLocks noGrp="1"/>
          </p:cNvSpPr>
          <p:nvPr/>
        </p:nvSpPr>
        <p:spPr>
          <a:xfrm>
            <a:off x="666750" y="5295900"/>
            <a:ext cx="10477500" cy="619125"/>
          </a:xfrm>
          <a:prstGeom prst="rect">
            <a:avLst/>
          </a:prstGeom>
          <a:noFill/>
          <a:ln w="0">
            <a:noFill/>
          </a:ln>
        </p:spPr>
        <p:txBody>
          <a:bodyPr>
            <a:noAutofit/>
          </a:bodyPr>
          <a:lstStyle/>
          <a:p>
            <a:pPr>
              <a:buNone/>
              <a:defRPr sz="1725" b="1">
                <a:solidFill>
                  <a:srgbClr val="53717B"/>
                </a:solidFill>
                <a:latin typeface="Bitstream Charter"/>
                <a:ea typeface="Bitstream Charter"/>
                <a:cs typeface="Bitstream Charter"/>
              </a:defRPr>
            </a:pPr>
            <a:r>
              <a:rPr sz="1725" b="1" dirty="0">
                <a:solidFill>
                  <a:srgbClr val="53717B"/>
                </a:solidFill>
                <a:latin typeface="Bitstream Charter"/>
                <a:ea typeface="Bitstream Charter"/>
                <a:cs typeface="Bitstream Charter"/>
              </a:rPr>
              <a:t>Bismuth and antibiotics need a 4-week washout before the test of cure.</a:t>
            </a:r>
          </a:p>
        </p:txBody>
      </p:sp>
      <p:sp>
        <p:nvSpPr>
          <p:cNvPr id="9" name="Rectangle 8"/>
          <p:cNvSpPr/>
          <p:nvPr/>
        </p:nvSpPr>
        <p:spPr>
          <a:xfrm>
            <a:off x="8892655" y="6298168"/>
            <a:ext cx="2989857" cy="369332"/>
          </a:xfrm>
          <a:prstGeom prst="rect">
            <a:avLst/>
          </a:prstGeom>
        </p:spPr>
        <p:txBody>
          <a:bodyPr wrap="none">
            <a:spAutoFit/>
          </a:bodyPr>
          <a:lstStyle/>
          <a:p>
            <a:r>
              <a:rPr lang="it-IT" dirty="0"/>
              <a:t>ACG H. pylori guidance (2024)</a:t>
            </a:r>
          </a:p>
        </p:txBody>
      </p:sp>
      <p:pic>
        <p:nvPicPr>
          <p:cNvPr id="11" name="Picture 10"/>
          <p:cNvPicPr>
            <a:picLocks noChangeAspect="1"/>
          </p:cNvPicPr>
          <p:nvPr/>
        </p:nvPicPr>
        <p:blipFill>
          <a:blip r:embed="rId3"/>
          <a:stretch>
            <a:fillRect/>
          </a:stretch>
        </p:blipFill>
        <p:spPr>
          <a:xfrm>
            <a:off x="10548609" y="117302"/>
            <a:ext cx="1531186" cy="1118806"/>
          </a:xfrm>
          <a:prstGeom prst="rect">
            <a:avLst/>
          </a:prstGeom>
        </p:spPr>
      </p:pic>
    </p:spTree>
    <p:extLst>
      <p:ext uri="{BB962C8B-B14F-4D97-AF65-F5344CB8AC3E}">
        <p14:creationId xmlns:p14="http://schemas.microsoft.com/office/powerpoint/2010/main" val="321410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Thank You Background Vector Art, Icons, and Graphics for Free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4" name="Group 3"/>
          <p:cNvGrpSpPr/>
          <p:nvPr/>
        </p:nvGrpSpPr>
        <p:grpSpPr>
          <a:xfrm>
            <a:off x="2935351" y="1334452"/>
            <a:ext cx="6791325" cy="4086226"/>
            <a:chOff x="2216023" y="993076"/>
            <a:chExt cx="6791325" cy="4086226"/>
          </a:xfrm>
        </p:grpSpPr>
        <p:pic>
          <p:nvPicPr>
            <p:cNvPr id="1028" name="Picture 4" descr="Thank You Background Vector Art, Icons, and Graphics for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023" y="993076"/>
              <a:ext cx="6791325" cy="40862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536163" y="4059936"/>
              <a:ext cx="6151043" cy="707886"/>
            </a:xfrm>
            <a:prstGeom prst="rect">
              <a:avLst/>
            </a:prstGeom>
            <a:noFill/>
          </p:spPr>
          <p:txBody>
            <a:bodyPr wrap="none" rtlCol="0">
              <a:spAutoFit/>
            </a:bodyPr>
            <a:lstStyle/>
            <a:p>
              <a:r>
                <a:rPr lang="en-US" sz="4000" b="1" dirty="0" smtClean="0">
                  <a:latin typeface="Lucida Handwriting" panose="03010101010101010101" pitchFamily="66" charset="0"/>
                </a:rPr>
                <a:t>For your ASSISTANCE</a:t>
              </a:r>
              <a:endParaRPr lang="en-US" sz="4000" b="1" dirty="0">
                <a:latin typeface="Lucida Handwriting" panose="03010101010101010101" pitchFamily="66" charset="0"/>
              </a:endParaRPr>
            </a:p>
          </p:txBody>
        </p:sp>
      </p:grpSp>
    </p:spTree>
    <p:extLst>
      <p:ext uri="{BB962C8B-B14F-4D97-AF65-F5344CB8AC3E}">
        <p14:creationId xmlns:p14="http://schemas.microsoft.com/office/powerpoint/2010/main" val="405355039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3576</Words>
  <Application>Microsoft Office PowerPoint</Application>
  <DocSecurity>0</DocSecurity>
  <PresentationFormat>Widescreen</PresentationFormat>
  <Paragraphs>379</Paragraphs>
  <Slides>34</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Bitstream Charter</vt:lpstr>
      <vt:lpstr>Calibri</vt:lpstr>
      <vt:lpstr>Lucida Handwriting</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sarkis</cp:lastModifiedBy>
  <cp:revision>18</cp:revision>
  <dcterms:created xsi:type="dcterms:W3CDTF">2026-09-22T08:54:28Z</dcterms:created>
  <dcterms:modified xsi:type="dcterms:W3CDTF">2026-09-30T08:41:15Z</dcterms:modified>
</cp:coreProperties>
</file>